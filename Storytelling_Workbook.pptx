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636008" cy="6858000"/>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 y="-822960"/>
            <a:ext cx="3108960" cy="3108960"/>
          </a:xfrm>
          <a:prstGeom prst="ellipse">
            <a:avLst/>
          </a:prstGeom>
          <a:solidFill>
            <a:srgbClr val="A8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82880" y="2560320"/>
            <a:ext cx="3291840" cy="3291840"/>
          </a:xfrm>
          <a:prstGeom prst="ellipse">
            <a:avLst/>
          </a:prstGeom>
          <a:solidFill>
            <a:srgbClr val="A8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011680" y="3200400"/>
            <a:ext cx="2560320" cy="2560320"/>
          </a:xfrm>
          <a:prstGeom prst="ellipse">
            <a:avLst/>
          </a:prstGeom>
          <a:solidFill>
            <a:srgbClr val="7AC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36008" y="0"/>
            <a:ext cx="16459" cy="6858000"/>
          </a:xfrm>
          <a:prstGeom prst="rect">
            <a:avLst/>
          </a:prstGeom>
          <a:solidFill>
            <a:srgbClr val="80C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0" y="1737360"/>
            <a:ext cx="6858000" cy="274320"/>
          </a:xfrm>
          <a:prstGeom prst="rect">
            <a:avLst/>
          </a:prstGeom>
          <a:noFill/>
        </p:spPr>
        <p:txBody>
          <a:bodyPr wrap="square">
            <a:spAutoFit/>
          </a:bodyPr>
          <a:lstStyle/>
          <a:p>
            <a:pPr algn="l"/>
            <a:r>
              <a:rPr sz="1100" b="1" i="0">
                <a:solidFill>
                  <a:srgbClr val="94DCD4"/>
                </a:solidFill>
                <a:latin typeface="Nunito Sans"/>
              </a:rPr>
              <a:t>A LEADERSHIP NARRATIVE WORKBOOK</a:t>
            </a:r>
          </a:p>
        </p:txBody>
      </p:sp>
      <p:sp>
        <p:nvSpPr>
          <p:cNvPr id="8" name="TextBox 7"/>
          <p:cNvSpPr txBox="1"/>
          <p:nvPr/>
        </p:nvSpPr>
        <p:spPr>
          <a:xfrm>
            <a:off x="5029200" y="2103120"/>
            <a:ext cx="6858000" cy="1005840"/>
          </a:xfrm>
          <a:prstGeom prst="rect">
            <a:avLst/>
          </a:prstGeom>
          <a:noFill/>
        </p:spPr>
        <p:txBody>
          <a:bodyPr wrap="square">
            <a:spAutoFit/>
          </a:bodyPr>
          <a:lstStyle/>
          <a:p>
            <a:pPr algn="l"/>
            <a:r>
              <a:rPr sz="7200" b="1" i="0">
                <a:solidFill>
                  <a:srgbClr val="232C3A"/>
                </a:solidFill>
                <a:latin typeface="Nunito Sans"/>
              </a:rPr>
              <a:t>Storytelling</a:t>
            </a:r>
          </a:p>
        </p:txBody>
      </p:sp>
      <p:sp>
        <p:nvSpPr>
          <p:cNvPr id="9" name="TextBox 8"/>
          <p:cNvSpPr txBox="1"/>
          <p:nvPr/>
        </p:nvSpPr>
        <p:spPr>
          <a:xfrm>
            <a:off x="5029200" y="3017520"/>
            <a:ext cx="6858000" cy="1005840"/>
          </a:xfrm>
          <a:prstGeom prst="rect">
            <a:avLst/>
          </a:prstGeom>
          <a:noFill/>
        </p:spPr>
        <p:txBody>
          <a:bodyPr wrap="square">
            <a:spAutoFit/>
          </a:bodyPr>
          <a:lstStyle/>
          <a:p>
            <a:pPr algn="l"/>
            <a:r>
              <a:rPr sz="7200" b="1" i="0">
                <a:solidFill>
                  <a:srgbClr val="B52C75"/>
                </a:solidFill>
                <a:latin typeface="Nunito Sans"/>
              </a:rPr>
              <a:t>Workbook.</a:t>
            </a:r>
          </a:p>
        </p:txBody>
      </p:sp>
      <p:sp>
        <p:nvSpPr>
          <p:cNvPr id="10" name="Rectangle 9"/>
          <p:cNvSpPr/>
          <p:nvPr/>
        </p:nvSpPr>
        <p:spPr>
          <a:xfrm>
            <a:off x="5029200" y="4096512"/>
            <a:ext cx="530352" cy="91440"/>
          </a:xfrm>
          <a:prstGeom prst="rect">
            <a:avLst/>
          </a:prstGeom>
          <a:solidFill>
            <a:srgbClr val="B52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4315968"/>
            <a:ext cx="6217920" cy="685800"/>
          </a:xfrm>
          <a:prstGeom prst="rect">
            <a:avLst/>
          </a:prstGeom>
          <a:noFill/>
        </p:spPr>
        <p:txBody>
          <a:bodyPr wrap="square">
            <a:spAutoFit/>
          </a:bodyPr>
          <a:lstStyle/>
          <a:p>
            <a:pPr algn="l"/>
            <a:r>
              <a:rPr sz="1400" b="0" i="0">
                <a:solidFill>
                  <a:srgbClr val="3A4A55"/>
                </a:solidFill>
                <a:latin typeface="Nunito Sans"/>
              </a:rPr>
              <a:t>A framework for building narratives that engage,
align and inspire people to change.</a:t>
            </a:r>
          </a:p>
        </p:txBody>
      </p:sp>
      <p:sp>
        <p:nvSpPr>
          <p:cNvPr id="12" name="Rectangle 11"/>
          <p:cNvSpPr/>
          <p:nvPr/>
        </p:nvSpPr>
        <p:spPr>
          <a:xfrm>
            <a:off x="0" y="6007608"/>
            <a:ext cx="12188952" cy="850392"/>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108192"/>
            <a:ext cx="4572000" cy="502920"/>
          </a:xfrm>
          <a:prstGeom prst="rect">
            <a:avLst/>
          </a:prstGeom>
          <a:noFill/>
        </p:spPr>
        <p:txBody>
          <a:bodyPr wrap="square">
            <a:spAutoFit/>
          </a:bodyPr>
          <a:lstStyle/>
          <a:p>
            <a:pPr algn="l"/>
            <a:r>
              <a:rPr sz="1600" b="1" i="0">
                <a:solidFill>
                  <a:srgbClr val="FFFFFF"/>
                </a:solidFill>
                <a:latin typeface="Nunito Sans"/>
              </a:rPr>
              <a:t>Rusholme Ltd</a:t>
            </a:r>
          </a:p>
        </p:txBody>
      </p:sp>
      <p:sp>
        <p:nvSpPr>
          <p:cNvPr id="14" name="TextBox 13"/>
          <p:cNvSpPr txBox="1"/>
          <p:nvPr/>
        </p:nvSpPr>
        <p:spPr>
          <a:xfrm>
            <a:off x="0" y="6601968"/>
            <a:ext cx="11868912" cy="228600"/>
          </a:xfrm>
          <a:prstGeom prst="rect">
            <a:avLst/>
          </a:prstGeom>
          <a:noFill/>
        </p:spPr>
        <p:txBody>
          <a:bodyPr wrap="square">
            <a:spAutoFit/>
          </a:bodyPr>
          <a:lstStyle/>
          <a:p>
            <a:pPr algn="r"/>
            <a:r>
              <a:rPr sz="1100" b="0" i="1">
                <a:solidFill>
                  <a:srgbClr val="8899AA"/>
                </a:solidFill>
                <a:latin typeface="Nunito Sans"/>
              </a:rPr>
              <a:t>Storytelling Workbook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28600"/>
            <a:ext cx="11457432" cy="804672"/>
          </a:xfrm>
          <a:prstGeom prst="rect">
            <a:avLst/>
          </a:prstGeom>
          <a:noFill/>
        </p:spPr>
        <p:txBody>
          <a:bodyPr wrap="square">
            <a:spAutoFit/>
          </a:bodyPr>
          <a:lstStyle/>
          <a:p>
            <a:pPr algn="l"/>
            <a:r>
              <a:rPr sz="4600" b="1" i="0">
                <a:solidFill>
                  <a:srgbClr val="232C3A"/>
                </a:solidFill>
                <a:latin typeface="Nunito Sans"/>
              </a:rPr>
              <a:t>Introduction</a:t>
            </a:r>
          </a:p>
        </p:txBody>
      </p:sp>
      <p:sp>
        <p:nvSpPr>
          <p:cNvPr id="3" name="Rectangle 2"/>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5" name="TextBox 4"/>
          <p:cNvSpPr txBox="1"/>
          <p:nvPr/>
        </p:nvSpPr>
        <p:spPr>
          <a:xfrm>
            <a:off x="365760" y="1170432"/>
            <a:ext cx="3657600" cy="5212080"/>
          </a:xfrm>
          <a:prstGeom prst="rect">
            <a:avLst/>
          </a:prstGeom>
          <a:noFill/>
        </p:spPr>
        <p:txBody>
          <a:bodyPr wrap="square">
            <a:spAutoFit/>
          </a:bodyPr>
          <a:lstStyle/>
          <a:p>
            <a:pPr algn="l">
              <a:spcAft>
                <a:spcPts val="1000"/>
              </a:spcAft>
            </a:pPr>
            <a:r>
              <a:rPr sz="1300" b="0" i="0">
                <a:solidFill>
                  <a:srgbClr val="3A4A55"/>
                </a:solidFill>
                <a:latin typeface="Nunito Sans"/>
              </a:rPr>
              <a:t>In working with 100s of large, complex, multi-national organisations over the last 30 years, we've seen a lot of leadership models and frameworks. While nuances change by industry and geography, there are 3 universal themes: Leaders deliver for today, Transform for tomorrow and Bring others with them.</a:t>
            </a:r>
          </a:p>
          <a:p>
            <a:pPr algn="l"/>
            <a:r>
              <a:rPr sz="1300" b="0" i="0">
                <a:solidFill>
                  <a:srgbClr val="3A4A55"/>
                </a:solidFill>
                <a:latin typeface="Nunito Sans"/>
              </a:rPr>
              <a:t>Whether you are leading a team, shaping a strategy across functions, or trying to shift how colleagues think and act, one challenge keeps surfacing: how do you bring people with you? Not through authority or instruction alone, but through ideas that resonate, arguments that land, and stories that stick.</a:t>
            </a:r>
          </a:p>
        </p:txBody>
      </p:sp>
      <p:sp>
        <p:nvSpPr>
          <p:cNvPr id="6" name="TextBox 5"/>
          <p:cNvSpPr txBox="1"/>
          <p:nvPr/>
        </p:nvSpPr>
        <p:spPr>
          <a:xfrm>
            <a:off x="4224528" y="1170432"/>
            <a:ext cx="3657600" cy="5212080"/>
          </a:xfrm>
          <a:prstGeom prst="rect">
            <a:avLst/>
          </a:prstGeom>
          <a:noFill/>
        </p:spPr>
        <p:txBody>
          <a:bodyPr wrap="square">
            <a:spAutoFit/>
          </a:bodyPr>
          <a:lstStyle/>
          <a:p>
            <a:pPr algn="l">
              <a:spcAft>
                <a:spcPts val="1000"/>
              </a:spcAft>
            </a:pPr>
            <a:r>
              <a:rPr sz="1300" b="0" i="0">
                <a:solidFill>
                  <a:srgbClr val="3A4A55"/>
                </a:solidFill>
                <a:latin typeface="Nunito Sans"/>
              </a:rPr>
              <a:t>It's also the heart of what modern leadership asks of us. Leadership today is rarely about positional authority — it's about influence: the ability to shape thinking, build coalitions, make cases for change, and move people who may not report to you, who may sit above you, or who hold competing priorities. The leaders who do this well are not necessarily the most senior or the most confident in the room. They are the ones who can tell a story that helps others see the world differently.</a:t>
            </a:r>
          </a:p>
          <a:p>
            <a:pPr algn="l"/>
            <a:r>
              <a:rPr sz="1300" b="0" i="0">
                <a:solidFill>
                  <a:srgbClr val="3A4A55"/>
                </a:solidFill>
                <a:latin typeface="Nunito Sans"/>
              </a:rPr>
              <a:t>It is no coincidence that most great leaders are also great storytellers. In a complex world, we seek out those who help us make sense of things – and stories are key. Stories influence the way we think, feel, act and behave, they motivate us at an emotional level, and shared stories are central to cultural identities and collective action. In short, stories are the most effective tool we have to inspire and influence others.</a:t>
            </a:r>
          </a:p>
        </p:txBody>
      </p:sp>
      <p:sp>
        <p:nvSpPr>
          <p:cNvPr id="7" name="TextBox 6"/>
          <p:cNvSpPr txBox="1"/>
          <p:nvPr/>
        </p:nvSpPr>
        <p:spPr>
          <a:xfrm>
            <a:off x="8083296" y="1170432"/>
            <a:ext cx="3657600" cy="5212080"/>
          </a:xfrm>
          <a:prstGeom prst="rect">
            <a:avLst/>
          </a:prstGeom>
          <a:noFill/>
        </p:spPr>
        <p:txBody>
          <a:bodyPr wrap="square">
            <a:spAutoFit/>
          </a:bodyPr>
          <a:lstStyle/>
          <a:p>
            <a:pPr algn="l">
              <a:spcAft>
                <a:spcPts val="800"/>
              </a:spcAft>
            </a:pPr>
            <a:r>
              <a:rPr sz="1400" b="1" i="0">
                <a:solidFill>
                  <a:srgbClr val="232C3A"/>
                </a:solidFill>
                <a:latin typeface="Nunito Sans"/>
              </a:rPr>
              <a:t>By the end of the workshop you will:</a:t>
            </a:r>
          </a:p>
          <a:p>
            <a:pPr algn="l">
              <a:spcAft>
                <a:spcPts val="800"/>
              </a:spcAft>
            </a:pPr>
            <a:r>
              <a:rPr sz="1300" b="0" i="0">
                <a:solidFill>
                  <a:srgbClr val="3A4A55"/>
                </a:solidFill>
                <a:latin typeface="Nunito Sans"/>
              </a:rPr>
              <a:t>•  Understand the five-chapter narrative structure and how it applies to your leadership challenge</a:t>
            </a:r>
          </a:p>
          <a:p>
            <a:pPr algn="l">
              <a:spcAft>
                <a:spcPts val="800"/>
              </a:spcAft>
            </a:pPr>
            <a:r>
              <a:rPr sz="1300" b="0" i="0">
                <a:solidFill>
                  <a:srgbClr val="3A4A55"/>
                </a:solidFill>
                <a:latin typeface="Nunito Sans"/>
              </a:rPr>
              <a:t>•  Have developed your own strategic narrative using the Storytelling framework</a:t>
            </a:r>
          </a:p>
          <a:p>
            <a:pPr algn="l">
              <a:spcAft>
                <a:spcPts val="1400"/>
              </a:spcAft>
            </a:pPr>
            <a:r>
              <a:rPr sz="1300" b="0" i="0">
                <a:solidFill>
                  <a:srgbClr val="3A4A55"/>
                </a:solidFill>
                <a:latin typeface="Nunito Sans"/>
              </a:rPr>
              <a:t>•  Have identified illustrative stories to bring each chapter of your narrative to life</a:t>
            </a:r>
          </a:p>
          <a:p>
            <a:pPr algn="l"/>
            <a:r>
              <a:rPr sz="1300" b="0" i="0">
                <a:solidFill>
                  <a:srgbClr val="3A4A55"/>
                </a:solidFill>
                <a:latin typeface="Nunito Sans"/>
              </a:rPr>
              <a:t>This workbook is your personal companion. Use it to capture your thinking, refine your ideas, and build your narrative over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28600"/>
            <a:ext cx="11457432" cy="804672"/>
          </a:xfrm>
          <a:prstGeom prst="rect">
            <a:avLst/>
          </a:prstGeom>
          <a:noFill/>
        </p:spPr>
        <p:txBody>
          <a:bodyPr wrap="square">
            <a:spAutoFit/>
          </a:bodyPr>
          <a:lstStyle/>
          <a:p>
            <a:pPr algn="l"/>
            <a:r>
              <a:rPr sz="4000" b="1" i="0">
                <a:solidFill>
                  <a:srgbClr val="232C3A"/>
                </a:solidFill>
                <a:latin typeface="Nunito Sans"/>
              </a:rPr>
              <a:t>Introduction to the Strategic Narrative</a:t>
            </a:r>
          </a:p>
        </p:txBody>
      </p:sp>
      <p:sp>
        <p:nvSpPr>
          <p:cNvPr id="3" name="Rectangle 2"/>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5" name="TextBox 4"/>
          <p:cNvSpPr txBox="1"/>
          <p:nvPr/>
        </p:nvSpPr>
        <p:spPr>
          <a:xfrm>
            <a:off x="365760" y="1170432"/>
            <a:ext cx="3657600" cy="2194560"/>
          </a:xfrm>
          <a:prstGeom prst="rect">
            <a:avLst/>
          </a:prstGeom>
          <a:noFill/>
        </p:spPr>
        <p:txBody>
          <a:bodyPr wrap="square">
            <a:spAutoFit/>
          </a:bodyPr>
          <a:lstStyle/>
          <a:p>
            <a:pPr algn="l"/>
            <a:r>
              <a:rPr sz="1300" b="0" i="0">
                <a:solidFill>
                  <a:srgbClr val="3A4A55"/>
                </a:solidFill>
                <a:latin typeface="Nunito Sans"/>
              </a:rPr>
              <a:t>Before we begin building your narrative, we want to introduce the key concepts that will underpin your work throughout this programme.
Take a moment to consider the questions below before we begin.</a:t>
            </a:r>
          </a:p>
        </p:txBody>
      </p:sp>
      <p:sp>
        <p:nvSpPr>
          <p:cNvPr id="6" name="TextBox 5"/>
          <p:cNvSpPr txBox="1"/>
          <p:nvPr/>
        </p:nvSpPr>
        <p:spPr>
          <a:xfrm>
            <a:off x="4224528" y="1170432"/>
            <a:ext cx="3657600" cy="2194560"/>
          </a:xfrm>
          <a:prstGeom prst="rect">
            <a:avLst/>
          </a:prstGeom>
          <a:noFill/>
        </p:spPr>
        <p:txBody>
          <a:bodyPr wrap="square">
            <a:spAutoFit/>
          </a:bodyPr>
          <a:lstStyle/>
          <a:p>
            <a:pPr algn="l"/>
            <a:r>
              <a:rPr sz="1300" b="0" i="0">
                <a:solidFill>
                  <a:srgbClr val="3A4A55"/>
                </a:solidFill>
                <a:latin typeface="Nunito Sans"/>
              </a:rPr>
              <a:t>Strategic narratives are more than messages or talking points. They are coherent, emotionally resonant accounts of where we have come from, where we are, and where we are going.
The best narratives give people a sense of identity, direction, and hope — all at once.</a:t>
            </a:r>
          </a:p>
        </p:txBody>
      </p:sp>
      <p:sp>
        <p:nvSpPr>
          <p:cNvPr id="7" name="TextBox 6"/>
          <p:cNvSpPr txBox="1"/>
          <p:nvPr/>
        </p:nvSpPr>
        <p:spPr>
          <a:xfrm>
            <a:off x="8083296" y="1170432"/>
            <a:ext cx="3657600" cy="2194560"/>
          </a:xfrm>
          <a:prstGeom prst="rect">
            <a:avLst/>
          </a:prstGeom>
          <a:noFill/>
        </p:spPr>
        <p:txBody>
          <a:bodyPr wrap="square">
            <a:spAutoFit/>
          </a:bodyPr>
          <a:lstStyle/>
          <a:p>
            <a:pPr algn="l"/>
            <a:r>
              <a:rPr sz="1300" b="0" i="0">
                <a:solidFill>
                  <a:srgbClr val="3A4A55"/>
                </a:solidFill>
                <a:latin typeface="Nunito Sans"/>
              </a:rPr>
              <a:t>In this workshop, you will build your own five-chapter strategic narrative using a framework that has been tested and refined with hundreds of leaders across a range of industries.
The questions below are designed to get you thinking before we begin.</a:t>
            </a:r>
          </a:p>
        </p:txBody>
      </p:sp>
      <p:sp>
        <p:nvSpPr>
          <p:cNvPr id="8" name="Rectangle 7"/>
          <p:cNvSpPr/>
          <p:nvPr/>
        </p:nvSpPr>
        <p:spPr>
          <a:xfrm>
            <a:off x="320040" y="4023360"/>
            <a:ext cx="3822191" cy="1737360"/>
          </a:xfrm>
          <a:prstGeom prst="rect">
            <a:avLst/>
          </a:prstGeom>
          <a:solidFill>
            <a:srgbClr val="FFFFFF"/>
          </a:solidFill>
          <a:ln w="19050">
            <a:solidFill>
              <a:srgbClr val="B52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 y="4151376"/>
            <a:ext cx="411480" cy="411480"/>
          </a:xfrm>
          <a:prstGeom prst="rect">
            <a:avLst/>
          </a:prstGeom>
          <a:noFill/>
        </p:spPr>
        <p:txBody>
          <a:bodyPr wrap="square">
            <a:spAutoFit/>
          </a:bodyPr>
          <a:lstStyle/>
          <a:p>
            <a:pPr algn="l"/>
            <a:r>
              <a:rPr sz="2000" b="1" i="0">
                <a:solidFill>
                  <a:srgbClr val="B52C75"/>
                </a:solidFill>
                <a:latin typeface="Nunito Sans"/>
              </a:rPr>
              <a:t>1.</a:t>
            </a:r>
          </a:p>
        </p:txBody>
      </p:sp>
      <p:sp>
        <p:nvSpPr>
          <p:cNvPr id="10" name="TextBox 9"/>
          <p:cNvSpPr txBox="1"/>
          <p:nvPr/>
        </p:nvSpPr>
        <p:spPr>
          <a:xfrm>
            <a:off x="886968" y="4187952"/>
            <a:ext cx="3136391" cy="1481328"/>
          </a:xfrm>
          <a:prstGeom prst="rect">
            <a:avLst/>
          </a:prstGeom>
          <a:noFill/>
        </p:spPr>
        <p:txBody>
          <a:bodyPr wrap="square">
            <a:spAutoFit/>
          </a:bodyPr>
          <a:lstStyle/>
          <a:p>
            <a:pPr algn="l"/>
            <a:r>
              <a:rPr sz="1300" b="0" i="0">
                <a:solidFill>
                  <a:srgbClr val="3A4A55"/>
                </a:solidFill>
                <a:latin typeface="Nunito Sans"/>
              </a:rPr>
              <a:t>What is a strategic narrative? And what is the difference between stories and narratives?</a:t>
            </a:r>
          </a:p>
        </p:txBody>
      </p:sp>
      <p:sp>
        <p:nvSpPr>
          <p:cNvPr id="11" name="Rectangle 10"/>
          <p:cNvSpPr/>
          <p:nvPr/>
        </p:nvSpPr>
        <p:spPr>
          <a:xfrm>
            <a:off x="4315968" y="4023360"/>
            <a:ext cx="3822191" cy="1737360"/>
          </a:xfrm>
          <a:prstGeom prst="rect">
            <a:avLst/>
          </a:prstGeom>
          <a:solidFill>
            <a:srgbClr val="FFFFFF"/>
          </a:solidFill>
          <a:ln w="19050">
            <a:solidFill>
              <a:srgbClr val="B52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4151376"/>
            <a:ext cx="411480" cy="411480"/>
          </a:xfrm>
          <a:prstGeom prst="rect">
            <a:avLst/>
          </a:prstGeom>
          <a:noFill/>
        </p:spPr>
        <p:txBody>
          <a:bodyPr wrap="square">
            <a:spAutoFit/>
          </a:bodyPr>
          <a:lstStyle/>
          <a:p>
            <a:pPr algn="l"/>
            <a:r>
              <a:rPr sz="2000" b="1" i="0">
                <a:solidFill>
                  <a:srgbClr val="B52C75"/>
                </a:solidFill>
                <a:latin typeface="Nunito Sans"/>
              </a:rPr>
              <a:t>2.</a:t>
            </a:r>
          </a:p>
        </p:txBody>
      </p:sp>
      <p:sp>
        <p:nvSpPr>
          <p:cNvPr id="13" name="TextBox 12"/>
          <p:cNvSpPr txBox="1"/>
          <p:nvPr/>
        </p:nvSpPr>
        <p:spPr>
          <a:xfrm>
            <a:off x="4882896" y="4187952"/>
            <a:ext cx="3136391" cy="1481328"/>
          </a:xfrm>
          <a:prstGeom prst="rect">
            <a:avLst/>
          </a:prstGeom>
          <a:noFill/>
        </p:spPr>
        <p:txBody>
          <a:bodyPr wrap="square">
            <a:spAutoFit/>
          </a:bodyPr>
          <a:lstStyle/>
          <a:p>
            <a:pPr algn="l"/>
            <a:r>
              <a:rPr sz="1300" b="0" i="0">
                <a:solidFill>
                  <a:srgbClr val="3A4A55"/>
                </a:solidFill>
                <a:latin typeface="Nunito Sans"/>
              </a:rPr>
              <a:t>Why is it critical that leaders master these skills in the current landscape?</a:t>
            </a:r>
          </a:p>
        </p:txBody>
      </p:sp>
      <p:sp>
        <p:nvSpPr>
          <p:cNvPr id="14" name="Rectangle 13"/>
          <p:cNvSpPr/>
          <p:nvPr/>
        </p:nvSpPr>
        <p:spPr>
          <a:xfrm>
            <a:off x="8321040" y="4023360"/>
            <a:ext cx="3822191" cy="1737360"/>
          </a:xfrm>
          <a:prstGeom prst="rect">
            <a:avLst/>
          </a:prstGeom>
          <a:solidFill>
            <a:srgbClr val="FFFFFF"/>
          </a:solidFill>
          <a:ln w="19050">
            <a:solidFill>
              <a:srgbClr val="B52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85632" y="4151376"/>
            <a:ext cx="411480" cy="411480"/>
          </a:xfrm>
          <a:prstGeom prst="rect">
            <a:avLst/>
          </a:prstGeom>
          <a:noFill/>
        </p:spPr>
        <p:txBody>
          <a:bodyPr wrap="square">
            <a:spAutoFit/>
          </a:bodyPr>
          <a:lstStyle/>
          <a:p>
            <a:pPr algn="l"/>
            <a:r>
              <a:rPr sz="2000" b="1" i="0">
                <a:solidFill>
                  <a:srgbClr val="B52C75"/>
                </a:solidFill>
                <a:latin typeface="Nunito Sans"/>
              </a:rPr>
              <a:t>3.</a:t>
            </a:r>
          </a:p>
        </p:txBody>
      </p:sp>
      <p:sp>
        <p:nvSpPr>
          <p:cNvPr id="16" name="TextBox 15"/>
          <p:cNvSpPr txBox="1"/>
          <p:nvPr/>
        </p:nvSpPr>
        <p:spPr>
          <a:xfrm>
            <a:off x="8887968" y="4187952"/>
            <a:ext cx="3136391" cy="1481328"/>
          </a:xfrm>
          <a:prstGeom prst="rect">
            <a:avLst/>
          </a:prstGeom>
          <a:noFill/>
        </p:spPr>
        <p:txBody>
          <a:bodyPr wrap="square">
            <a:spAutoFit/>
          </a:bodyPr>
          <a:lstStyle/>
          <a:p>
            <a:pPr algn="l"/>
            <a:r>
              <a:rPr sz="1300" b="0" i="0">
                <a:solidFill>
                  <a:srgbClr val="3A4A55"/>
                </a:solidFill>
                <a:latin typeface="Nunito Sans"/>
              </a:rPr>
              <a:t>How have stories been used effectively and who are the great storytellers in your organisation?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28600"/>
            <a:ext cx="9144000" cy="777240"/>
          </a:xfrm>
          <a:prstGeom prst="rect">
            <a:avLst/>
          </a:prstGeom>
          <a:noFill/>
        </p:spPr>
        <p:txBody>
          <a:bodyPr wrap="square">
            <a:spAutoFit/>
          </a:bodyPr>
          <a:lstStyle/>
          <a:p>
            <a:pPr algn="l"/>
            <a:r>
              <a:rPr sz="5000" b="1" i="0">
                <a:solidFill>
                  <a:srgbClr val="232C3A"/>
                </a:solidFill>
                <a:latin typeface="Nunito Sans"/>
              </a:rPr>
              <a:t>Your Space</a:t>
            </a:r>
          </a:p>
        </p:txBody>
      </p:sp>
      <p:sp>
        <p:nvSpPr>
          <p:cNvPr id="3" name="Rectangle 2"/>
          <p:cNvSpPr/>
          <p:nvPr/>
        </p:nvSpPr>
        <p:spPr>
          <a:xfrm>
            <a:off x="365760" y="960120"/>
            <a:ext cx="530352" cy="91440"/>
          </a:xfrm>
          <a:prstGeom prst="rect">
            <a:avLst/>
          </a:prstGeom>
          <a:solidFill>
            <a:srgbClr val="B52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07008"/>
            <a:ext cx="11457432" cy="54132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07008"/>
            <a:ext cx="11457432"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28600"/>
            <a:ext cx="11457432" cy="804672"/>
          </a:xfrm>
          <a:prstGeom prst="rect">
            <a:avLst/>
          </a:prstGeom>
          <a:noFill/>
        </p:spPr>
        <p:txBody>
          <a:bodyPr wrap="square">
            <a:spAutoFit/>
          </a:bodyPr>
          <a:lstStyle/>
          <a:p>
            <a:pPr algn="l"/>
            <a:r>
              <a:rPr sz="4200" b="1" i="0">
                <a:solidFill>
                  <a:srgbClr val="232C3A"/>
                </a:solidFill>
                <a:latin typeface="Nunito Sans"/>
              </a:rPr>
              <a:t>Framing your leadership challenge</a:t>
            </a:r>
          </a:p>
        </p:txBody>
      </p:sp>
      <p:sp>
        <p:nvSpPr>
          <p:cNvPr id="3" name="Rectangle 2"/>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5" name="TextBox 4"/>
          <p:cNvSpPr txBox="1"/>
          <p:nvPr/>
        </p:nvSpPr>
        <p:spPr>
          <a:xfrm>
            <a:off x="365760" y="1170432"/>
            <a:ext cx="2926080" cy="2560320"/>
          </a:xfrm>
          <a:prstGeom prst="rect">
            <a:avLst/>
          </a:prstGeom>
          <a:noFill/>
        </p:spPr>
        <p:txBody>
          <a:bodyPr wrap="square">
            <a:spAutoFit/>
          </a:bodyPr>
          <a:lstStyle/>
          <a:p>
            <a:pPr algn="l"/>
            <a:r>
              <a:rPr sz="1300" b="0" i="0">
                <a:solidFill>
                  <a:srgbClr val="3A4A55"/>
                </a:solidFill>
                <a:latin typeface="Nunito Sans"/>
              </a:rPr>
              <a:t>Before you start building your narrative, it is important to be clear about the leadership challenge you are trying to address.
Use the questions on the right to identify the key elements of your challenge. These will form the foundation of your five-chapter narrative.</a:t>
            </a:r>
          </a:p>
        </p:txBody>
      </p:sp>
      <p:sp>
        <p:nvSpPr>
          <p:cNvPr id="6" name="Rectangle 5"/>
          <p:cNvSpPr/>
          <p:nvPr/>
        </p:nvSpPr>
        <p:spPr>
          <a:xfrm>
            <a:off x="3493008" y="1097280"/>
            <a:ext cx="4224528" cy="257860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93008" y="1097280"/>
            <a:ext cx="4224528"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0168" y="1207008"/>
            <a:ext cx="3950208" cy="256032"/>
          </a:xfrm>
          <a:prstGeom prst="rect">
            <a:avLst/>
          </a:prstGeom>
          <a:noFill/>
        </p:spPr>
        <p:txBody>
          <a:bodyPr wrap="square">
            <a:spAutoFit/>
          </a:bodyPr>
          <a:lstStyle/>
          <a:p>
            <a:pPr algn="l"/>
            <a:r>
              <a:rPr sz="850" b="0" i="0">
                <a:solidFill>
                  <a:srgbClr val="778899"/>
                </a:solidFill>
                <a:latin typeface="Nunito Sans"/>
              </a:rPr>
              <a:t>WHAT SIGNIFICANT CHANGE OR IMPROVEMENT ARE YOU AIMING TO ACHIEVE? WHY NOW?</a:t>
            </a:r>
          </a:p>
        </p:txBody>
      </p:sp>
      <p:sp>
        <p:nvSpPr>
          <p:cNvPr id="9" name="Rectangle 8"/>
          <p:cNvSpPr/>
          <p:nvPr/>
        </p:nvSpPr>
        <p:spPr>
          <a:xfrm>
            <a:off x="7836408" y="1097280"/>
            <a:ext cx="4224528" cy="257860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36408" y="1097280"/>
            <a:ext cx="4224528"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73568" y="1207008"/>
            <a:ext cx="3950208" cy="256032"/>
          </a:xfrm>
          <a:prstGeom prst="rect">
            <a:avLst/>
          </a:prstGeom>
          <a:noFill/>
        </p:spPr>
        <p:txBody>
          <a:bodyPr wrap="square">
            <a:spAutoFit/>
          </a:bodyPr>
          <a:lstStyle/>
          <a:p>
            <a:pPr algn="l"/>
            <a:r>
              <a:rPr sz="850" b="0" i="0">
                <a:solidFill>
                  <a:srgbClr val="778899"/>
                </a:solidFill>
                <a:latin typeface="Nunito Sans"/>
              </a:rPr>
              <a:t>WHO NEEDS TO BE ENGAGED AND WHAT ROLE WILL THEY PLAY?</a:t>
            </a:r>
          </a:p>
        </p:txBody>
      </p:sp>
      <p:sp>
        <p:nvSpPr>
          <p:cNvPr id="12" name="Rectangle 11"/>
          <p:cNvSpPr/>
          <p:nvPr/>
        </p:nvSpPr>
        <p:spPr>
          <a:xfrm>
            <a:off x="3493008" y="3813048"/>
            <a:ext cx="4224528" cy="257860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93008" y="3813048"/>
            <a:ext cx="4224528"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0168" y="3922776"/>
            <a:ext cx="3950208" cy="256032"/>
          </a:xfrm>
          <a:prstGeom prst="rect">
            <a:avLst/>
          </a:prstGeom>
          <a:noFill/>
        </p:spPr>
        <p:txBody>
          <a:bodyPr wrap="square">
            <a:spAutoFit/>
          </a:bodyPr>
          <a:lstStyle/>
          <a:p>
            <a:pPr algn="l"/>
            <a:r>
              <a:rPr sz="850" b="0" i="0">
                <a:solidFill>
                  <a:srgbClr val="778899"/>
                </a:solidFill>
                <a:latin typeface="Nunito Sans"/>
              </a:rPr>
              <a:t>HOW DO YOUR PEOPLE CURRENTLY FEEL?</a:t>
            </a:r>
          </a:p>
        </p:txBody>
      </p:sp>
      <p:sp>
        <p:nvSpPr>
          <p:cNvPr id="15" name="Rectangle 14"/>
          <p:cNvSpPr/>
          <p:nvPr/>
        </p:nvSpPr>
        <p:spPr>
          <a:xfrm>
            <a:off x="7836408" y="3813048"/>
            <a:ext cx="4224528" cy="257860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36408" y="3813048"/>
            <a:ext cx="4224528"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73568" y="3922776"/>
            <a:ext cx="3950208" cy="256032"/>
          </a:xfrm>
          <a:prstGeom prst="rect">
            <a:avLst/>
          </a:prstGeom>
          <a:noFill/>
        </p:spPr>
        <p:txBody>
          <a:bodyPr wrap="square">
            <a:spAutoFit/>
          </a:bodyPr>
          <a:lstStyle/>
          <a:p>
            <a:pPr algn="l"/>
            <a:r>
              <a:rPr sz="850" b="0" i="0">
                <a:solidFill>
                  <a:srgbClr val="778899"/>
                </a:solidFill>
                <a:latin typeface="Nunito Sans"/>
              </a:rPr>
              <a:t>HOW WILL YOU KNOW IF YOU'VE SUCCEEDED IN ENGAGING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37744"/>
            <a:ext cx="11457432" cy="256032"/>
          </a:xfrm>
          <a:prstGeom prst="rect">
            <a:avLst/>
          </a:prstGeom>
          <a:noFill/>
        </p:spPr>
        <p:txBody>
          <a:bodyPr wrap="square">
            <a:spAutoFit/>
          </a:bodyPr>
          <a:lstStyle/>
          <a:p>
            <a:pPr algn="l"/>
            <a:r>
              <a:rPr sz="1100" b="1" i="0">
                <a:solidFill>
                  <a:srgbClr val="B52C75"/>
                </a:solidFill>
                <a:latin typeface="Nunito Sans"/>
              </a:rPr>
              <a:t>CHAPTER ONE</a:t>
            </a:r>
          </a:p>
        </p:txBody>
      </p:sp>
      <p:sp>
        <p:nvSpPr>
          <p:cNvPr id="3" name="TextBox 2"/>
          <p:cNvSpPr txBox="1"/>
          <p:nvPr/>
        </p:nvSpPr>
        <p:spPr>
          <a:xfrm>
            <a:off x="365760" y="493776"/>
            <a:ext cx="11457432" cy="566928"/>
          </a:xfrm>
          <a:prstGeom prst="rect">
            <a:avLst/>
          </a:prstGeom>
          <a:noFill/>
        </p:spPr>
        <p:txBody>
          <a:bodyPr wrap="square">
            <a:spAutoFit/>
          </a:bodyPr>
          <a:lstStyle/>
          <a:p>
            <a:pPr algn="l"/>
            <a:r>
              <a:rPr sz="4000" b="1" i="0">
                <a:solidFill>
                  <a:srgbClr val="232C3A"/>
                </a:solidFill>
                <a:latin typeface="Nunito Sans"/>
              </a:rPr>
              <a:t>Developing your narrative</a:t>
            </a:r>
          </a:p>
        </p:txBody>
      </p:sp>
      <p:sp>
        <p:nvSpPr>
          <p:cNvPr id="4" name="Rectangle 3"/>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6" name="Rectangle 5"/>
          <p:cNvSpPr/>
          <p:nvPr/>
        </p:nvSpPr>
        <p:spPr>
          <a:xfrm>
            <a:off x="320040" y="1097280"/>
            <a:ext cx="2606040" cy="54864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828800" y="822960"/>
            <a:ext cx="1645920" cy="164592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 y="1298448"/>
            <a:ext cx="2331720" cy="256032"/>
          </a:xfrm>
          <a:prstGeom prst="rect">
            <a:avLst/>
          </a:prstGeom>
          <a:noFill/>
        </p:spPr>
        <p:txBody>
          <a:bodyPr wrap="square">
            <a:spAutoFit/>
          </a:bodyPr>
          <a:lstStyle/>
          <a:p>
            <a:pPr algn="l"/>
            <a:r>
              <a:rPr sz="1000" b="1" i="0">
                <a:solidFill>
                  <a:srgbClr val="94DCD4"/>
                </a:solidFill>
                <a:latin typeface="Nunito Sans"/>
              </a:rPr>
              <a:t>CHAPTER ONE</a:t>
            </a:r>
          </a:p>
        </p:txBody>
      </p:sp>
      <p:sp>
        <p:nvSpPr>
          <p:cNvPr id="9" name="TextBox 8"/>
          <p:cNvSpPr txBox="1"/>
          <p:nvPr/>
        </p:nvSpPr>
        <p:spPr>
          <a:xfrm>
            <a:off x="484632" y="1600200"/>
            <a:ext cx="2331720" cy="914400"/>
          </a:xfrm>
          <a:prstGeom prst="rect">
            <a:avLst/>
          </a:prstGeom>
          <a:noFill/>
        </p:spPr>
        <p:txBody>
          <a:bodyPr wrap="square">
            <a:spAutoFit/>
          </a:bodyPr>
          <a:lstStyle/>
          <a:p>
            <a:pPr algn="l"/>
            <a:r>
              <a:rPr sz="2000" b="1" i="0">
                <a:solidFill>
                  <a:srgbClr val="FFFFFF"/>
                </a:solidFill>
                <a:latin typeface="Nunito Sans"/>
              </a:rPr>
              <a:t>Our pride and purpose…</a:t>
            </a:r>
          </a:p>
        </p:txBody>
      </p:sp>
      <p:sp>
        <p:nvSpPr>
          <p:cNvPr id="10" name="TextBox 9"/>
          <p:cNvSpPr txBox="1"/>
          <p:nvPr/>
        </p:nvSpPr>
        <p:spPr>
          <a:xfrm>
            <a:off x="484632" y="2606040"/>
            <a:ext cx="2331720" cy="777240"/>
          </a:xfrm>
          <a:prstGeom prst="rect">
            <a:avLst/>
          </a:prstGeom>
          <a:noFill/>
        </p:spPr>
        <p:txBody>
          <a:bodyPr wrap="square">
            <a:spAutoFit/>
          </a:bodyPr>
          <a:lstStyle/>
          <a:p>
            <a:pPr algn="l"/>
            <a:r>
              <a:rPr sz="1000" b="0" i="0">
                <a:solidFill>
                  <a:srgbClr val="BBCCDD"/>
                </a:solidFill>
                <a:latin typeface="Nunito Sans"/>
              </a:rPr>
              <a:t>– How do we support our company’s purpose?</a:t>
            </a:r>
          </a:p>
        </p:txBody>
      </p:sp>
      <p:sp>
        <p:nvSpPr>
          <p:cNvPr id="11" name="TextBox 10"/>
          <p:cNvSpPr txBox="1"/>
          <p:nvPr/>
        </p:nvSpPr>
        <p:spPr>
          <a:xfrm>
            <a:off x="484632" y="3429000"/>
            <a:ext cx="2331720" cy="777240"/>
          </a:xfrm>
          <a:prstGeom prst="rect">
            <a:avLst/>
          </a:prstGeom>
          <a:noFill/>
        </p:spPr>
        <p:txBody>
          <a:bodyPr wrap="square">
            <a:spAutoFit/>
          </a:bodyPr>
          <a:lstStyle/>
          <a:p>
            <a:pPr algn="l"/>
            <a:r>
              <a:rPr sz="1000" b="0" i="0">
                <a:solidFill>
                  <a:srgbClr val="BBCCDD"/>
                </a:solidFill>
                <a:latin typeface="Nunito Sans"/>
              </a:rPr>
              <a:t>– What are our people most proud of?</a:t>
            </a:r>
          </a:p>
        </p:txBody>
      </p:sp>
      <p:sp>
        <p:nvSpPr>
          <p:cNvPr id="12" name="TextBox 11"/>
          <p:cNvSpPr txBox="1"/>
          <p:nvPr/>
        </p:nvSpPr>
        <p:spPr>
          <a:xfrm>
            <a:off x="484632" y="4251960"/>
            <a:ext cx="2331720" cy="777240"/>
          </a:xfrm>
          <a:prstGeom prst="rect">
            <a:avLst/>
          </a:prstGeom>
          <a:noFill/>
        </p:spPr>
        <p:txBody>
          <a:bodyPr wrap="square">
            <a:spAutoFit/>
          </a:bodyPr>
          <a:lstStyle/>
          <a:p>
            <a:pPr algn="l"/>
            <a:r>
              <a:rPr sz="1000" b="0" i="0">
                <a:solidFill>
                  <a:srgbClr val="BBCCDD"/>
                </a:solidFill>
                <a:latin typeface="Nunito Sans"/>
              </a:rPr>
              <a:t>– What makes you personally proud to be part of this team?</a:t>
            </a:r>
          </a:p>
        </p:txBody>
      </p:sp>
      <p:sp>
        <p:nvSpPr>
          <p:cNvPr id="13" name="TextBox 12"/>
          <p:cNvSpPr txBox="1"/>
          <p:nvPr/>
        </p:nvSpPr>
        <p:spPr>
          <a:xfrm>
            <a:off x="484632" y="5074920"/>
            <a:ext cx="2331720" cy="777240"/>
          </a:xfrm>
          <a:prstGeom prst="rect">
            <a:avLst/>
          </a:prstGeom>
          <a:noFill/>
        </p:spPr>
        <p:txBody>
          <a:bodyPr wrap="square">
            <a:spAutoFit/>
          </a:bodyPr>
          <a:lstStyle/>
          <a:p>
            <a:pPr algn="l"/>
            <a:r>
              <a:rPr sz="1000" b="0" i="0">
                <a:solidFill>
                  <a:srgbClr val="BBCCDD"/>
                </a:solidFill>
                <a:latin typeface="Nunito Sans"/>
              </a:rPr>
              <a:t>– What strengths do we demonstrate at our best?</a:t>
            </a:r>
          </a:p>
        </p:txBody>
      </p:sp>
      <p:sp>
        <p:nvSpPr>
          <p:cNvPr id="14" name="TextBox 13"/>
          <p:cNvSpPr txBox="1"/>
          <p:nvPr/>
        </p:nvSpPr>
        <p:spPr>
          <a:xfrm>
            <a:off x="484632" y="5897880"/>
            <a:ext cx="2331720" cy="777240"/>
          </a:xfrm>
          <a:prstGeom prst="rect">
            <a:avLst/>
          </a:prstGeom>
          <a:noFill/>
        </p:spPr>
        <p:txBody>
          <a:bodyPr wrap="square">
            <a:spAutoFit/>
          </a:bodyPr>
          <a:lstStyle/>
          <a:p>
            <a:pPr algn="l"/>
            <a:r>
              <a:rPr sz="1000" b="0" i="0">
                <a:solidFill>
                  <a:srgbClr val="BBCCDD"/>
                </a:solidFill>
                <a:latin typeface="Nunito Sans"/>
              </a:rPr>
              <a:t>– What have we achieved?</a:t>
            </a:r>
          </a:p>
        </p:txBody>
      </p:sp>
      <p:sp>
        <p:nvSpPr>
          <p:cNvPr id="15" name="TextBox 14"/>
          <p:cNvSpPr txBox="1"/>
          <p:nvPr/>
        </p:nvSpPr>
        <p:spPr>
          <a:xfrm>
            <a:off x="484632" y="6144768"/>
            <a:ext cx="2331720" cy="347472"/>
          </a:xfrm>
          <a:prstGeom prst="rect">
            <a:avLst/>
          </a:prstGeom>
          <a:noFill/>
        </p:spPr>
        <p:txBody>
          <a:bodyPr wrap="square">
            <a:spAutoFit/>
          </a:bodyPr>
          <a:lstStyle/>
          <a:p>
            <a:pPr algn="l"/>
            <a:r>
              <a:rPr sz="1100" b="1" i="0">
                <a:solidFill>
                  <a:srgbClr val="B52C75"/>
                </a:solidFill>
                <a:latin typeface="Nunito Sans"/>
              </a:rPr>
              <a:t>Headline: we are…</a:t>
            </a:r>
          </a:p>
        </p:txBody>
      </p:sp>
      <p:sp>
        <p:nvSpPr>
          <p:cNvPr id="16" name="Rectangle 15"/>
          <p:cNvSpPr/>
          <p:nvPr/>
        </p:nvSpPr>
        <p:spPr>
          <a:xfrm>
            <a:off x="3063240" y="109728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63240" y="109728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0" y="1207008"/>
            <a:ext cx="4160520" cy="256032"/>
          </a:xfrm>
          <a:prstGeom prst="rect">
            <a:avLst/>
          </a:prstGeom>
          <a:noFill/>
        </p:spPr>
        <p:txBody>
          <a:bodyPr wrap="square">
            <a:spAutoFit/>
          </a:bodyPr>
          <a:lstStyle/>
          <a:p>
            <a:pPr algn="l"/>
            <a:r>
              <a:rPr sz="850" b="0" i="0">
                <a:solidFill>
                  <a:srgbClr val="778899"/>
                </a:solidFill>
                <a:latin typeface="Nunito Sans"/>
              </a:rPr>
              <a:t>THEME ONE · E.G. PURPOSE</a:t>
            </a:r>
          </a:p>
        </p:txBody>
      </p:sp>
      <p:sp>
        <p:nvSpPr>
          <p:cNvPr id="19" name="Rectangle 18"/>
          <p:cNvSpPr/>
          <p:nvPr/>
        </p:nvSpPr>
        <p:spPr>
          <a:xfrm>
            <a:off x="7699248" y="109728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99248" y="109728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36408" y="1207008"/>
            <a:ext cx="4160520" cy="256032"/>
          </a:xfrm>
          <a:prstGeom prst="rect">
            <a:avLst/>
          </a:prstGeom>
          <a:noFill/>
        </p:spPr>
        <p:txBody>
          <a:bodyPr wrap="square">
            <a:spAutoFit/>
          </a:bodyPr>
          <a:lstStyle/>
          <a:p>
            <a:pPr algn="l"/>
            <a:r>
              <a:rPr sz="850" b="0" i="0">
                <a:solidFill>
                  <a:srgbClr val="778899"/>
                </a:solidFill>
                <a:latin typeface="Nunito Sans"/>
              </a:rPr>
              <a:t>THEME TWO · E.G. PRIDE</a:t>
            </a:r>
          </a:p>
        </p:txBody>
      </p:sp>
      <p:sp>
        <p:nvSpPr>
          <p:cNvPr id="22" name="Rectangle 21"/>
          <p:cNvSpPr/>
          <p:nvPr/>
        </p:nvSpPr>
        <p:spPr>
          <a:xfrm>
            <a:off x="3063240" y="388620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063240" y="388620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3995928"/>
            <a:ext cx="4160520" cy="256032"/>
          </a:xfrm>
          <a:prstGeom prst="rect">
            <a:avLst/>
          </a:prstGeom>
          <a:noFill/>
        </p:spPr>
        <p:txBody>
          <a:bodyPr wrap="square">
            <a:spAutoFit/>
          </a:bodyPr>
          <a:lstStyle/>
          <a:p>
            <a:pPr algn="l"/>
            <a:r>
              <a:rPr sz="850" b="0" i="0">
                <a:solidFill>
                  <a:srgbClr val="778899"/>
                </a:solidFill>
                <a:latin typeface="Nunito Sans"/>
              </a:rPr>
              <a:t>THEME THREE · E.G. STRENGTHS</a:t>
            </a:r>
          </a:p>
        </p:txBody>
      </p:sp>
      <p:sp>
        <p:nvSpPr>
          <p:cNvPr id="25" name="Rectangle 24"/>
          <p:cNvSpPr/>
          <p:nvPr/>
        </p:nvSpPr>
        <p:spPr>
          <a:xfrm>
            <a:off x="7699248" y="388620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99248" y="388620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36408" y="3995928"/>
            <a:ext cx="4160520" cy="256032"/>
          </a:xfrm>
          <a:prstGeom prst="rect">
            <a:avLst/>
          </a:prstGeom>
          <a:noFill/>
        </p:spPr>
        <p:txBody>
          <a:bodyPr wrap="square">
            <a:spAutoFit/>
          </a:bodyPr>
          <a:lstStyle/>
          <a:p>
            <a:pPr algn="l"/>
            <a:r>
              <a:rPr sz="850" b="0" i="0">
                <a:solidFill>
                  <a:srgbClr val="778899"/>
                </a:solidFill>
                <a:latin typeface="Nunito Sans"/>
              </a:rPr>
              <a:t>THEME FOUR · E.G. ACHIEVEMENTS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37744"/>
            <a:ext cx="11457432" cy="256032"/>
          </a:xfrm>
          <a:prstGeom prst="rect">
            <a:avLst/>
          </a:prstGeom>
          <a:noFill/>
        </p:spPr>
        <p:txBody>
          <a:bodyPr wrap="square">
            <a:spAutoFit/>
          </a:bodyPr>
          <a:lstStyle/>
          <a:p>
            <a:pPr algn="l"/>
            <a:r>
              <a:rPr sz="1100" b="1" i="0">
                <a:solidFill>
                  <a:srgbClr val="B52C75"/>
                </a:solidFill>
                <a:latin typeface="Nunito Sans"/>
              </a:rPr>
              <a:t>CHAPTER TWO</a:t>
            </a:r>
          </a:p>
        </p:txBody>
      </p:sp>
      <p:sp>
        <p:nvSpPr>
          <p:cNvPr id="3" name="TextBox 2"/>
          <p:cNvSpPr txBox="1"/>
          <p:nvPr/>
        </p:nvSpPr>
        <p:spPr>
          <a:xfrm>
            <a:off x="365760" y="493776"/>
            <a:ext cx="11457432" cy="566928"/>
          </a:xfrm>
          <a:prstGeom prst="rect">
            <a:avLst/>
          </a:prstGeom>
          <a:noFill/>
        </p:spPr>
        <p:txBody>
          <a:bodyPr wrap="square">
            <a:spAutoFit/>
          </a:bodyPr>
          <a:lstStyle/>
          <a:p>
            <a:pPr algn="l"/>
            <a:r>
              <a:rPr sz="4000" b="1" i="0">
                <a:solidFill>
                  <a:srgbClr val="232C3A"/>
                </a:solidFill>
                <a:latin typeface="Nunito Sans"/>
              </a:rPr>
              <a:t>Developing your narrative</a:t>
            </a:r>
          </a:p>
        </p:txBody>
      </p:sp>
      <p:sp>
        <p:nvSpPr>
          <p:cNvPr id="4" name="Rectangle 3"/>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6" name="Rectangle 5"/>
          <p:cNvSpPr/>
          <p:nvPr/>
        </p:nvSpPr>
        <p:spPr>
          <a:xfrm>
            <a:off x="320040" y="1097280"/>
            <a:ext cx="2606040" cy="54864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828800" y="822960"/>
            <a:ext cx="1645920" cy="164592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 y="1298448"/>
            <a:ext cx="2331720" cy="256032"/>
          </a:xfrm>
          <a:prstGeom prst="rect">
            <a:avLst/>
          </a:prstGeom>
          <a:noFill/>
        </p:spPr>
        <p:txBody>
          <a:bodyPr wrap="square">
            <a:spAutoFit/>
          </a:bodyPr>
          <a:lstStyle/>
          <a:p>
            <a:pPr algn="l"/>
            <a:r>
              <a:rPr sz="1000" b="1" i="0">
                <a:solidFill>
                  <a:srgbClr val="94DCD4"/>
                </a:solidFill>
                <a:latin typeface="Nunito Sans"/>
              </a:rPr>
              <a:t>CHAPTER TWO</a:t>
            </a:r>
          </a:p>
        </p:txBody>
      </p:sp>
      <p:sp>
        <p:nvSpPr>
          <p:cNvPr id="9" name="TextBox 8"/>
          <p:cNvSpPr txBox="1"/>
          <p:nvPr/>
        </p:nvSpPr>
        <p:spPr>
          <a:xfrm>
            <a:off x="484632" y="1600200"/>
            <a:ext cx="2331720" cy="914400"/>
          </a:xfrm>
          <a:prstGeom prst="rect">
            <a:avLst/>
          </a:prstGeom>
          <a:noFill/>
        </p:spPr>
        <p:txBody>
          <a:bodyPr wrap="square">
            <a:spAutoFit/>
          </a:bodyPr>
          <a:lstStyle/>
          <a:p>
            <a:pPr algn="l"/>
            <a:r>
              <a:rPr sz="2000" b="1" i="0">
                <a:solidFill>
                  <a:srgbClr val="FFFFFF"/>
                </a:solidFill>
                <a:latin typeface="Nunito Sans"/>
              </a:rPr>
              <a:t>Our current reality…</a:t>
            </a:r>
          </a:p>
        </p:txBody>
      </p:sp>
      <p:sp>
        <p:nvSpPr>
          <p:cNvPr id="10" name="TextBox 9"/>
          <p:cNvSpPr txBox="1"/>
          <p:nvPr/>
        </p:nvSpPr>
        <p:spPr>
          <a:xfrm>
            <a:off x="484632" y="2606040"/>
            <a:ext cx="2331720" cy="777240"/>
          </a:xfrm>
          <a:prstGeom prst="rect">
            <a:avLst/>
          </a:prstGeom>
          <a:noFill/>
        </p:spPr>
        <p:txBody>
          <a:bodyPr wrap="square">
            <a:spAutoFit/>
          </a:bodyPr>
          <a:lstStyle/>
          <a:p>
            <a:pPr algn="l"/>
            <a:r>
              <a:rPr sz="1000" b="0" i="0">
                <a:solidFill>
                  <a:srgbClr val="BBCCDD"/>
                </a:solidFill>
                <a:latin typeface="Nunito Sans"/>
              </a:rPr>
              <a:t>– What external forces of change are shaping your organisation’s future?</a:t>
            </a:r>
          </a:p>
        </p:txBody>
      </p:sp>
      <p:sp>
        <p:nvSpPr>
          <p:cNvPr id="11" name="TextBox 10"/>
          <p:cNvSpPr txBox="1"/>
          <p:nvPr/>
        </p:nvSpPr>
        <p:spPr>
          <a:xfrm>
            <a:off x="484632" y="3429000"/>
            <a:ext cx="2331720" cy="777240"/>
          </a:xfrm>
          <a:prstGeom prst="rect">
            <a:avLst/>
          </a:prstGeom>
          <a:noFill/>
        </p:spPr>
        <p:txBody>
          <a:bodyPr wrap="square">
            <a:spAutoFit/>
          </a:bodyPr>
          <a:lstStyle/>
          <a:p>
            <a:pPr algn="l"/>
            <a:r>
              <a:rPr sz="1000" b="0" i="0">
                <a:solidFill>
                  <a:srgbClr val="BBCCDD"/>
                </a:solidFill>
                <a:latin typeface="Nunito Sans"/>
              </a:rPr>
              <a:t>– What challenges or barriers are holding us back?</a:t>
            </a:r>
          </a:p>
        </p:txBody>
      </p:sp>
      <p:sp>
        <p:nvSpPr>
          <p:cNvPr id="12" name="TextBox 11"/>
          <p:cNvSpPr txBox="1"/>
          <p:nvPr/>
        </p:nvSpPr>
        <p:spPr>
          <a:xfrm>
            <a:off x="484632" y="4251960"/>
            <a:ext cx="2331720" cy="777240"/>
          </a:xfrm>
          <a:prstGeom prst="rect">
            <a:avLst/>
          </a:prstGeom>
          <a:noFill/>
        </p:spPr>
        <p:txBody>
          <a:bodyPr wrap="square">
            <a:spAutoFit/>
          </a:bodyPr>
          <a:lstStyle/>
          <a:p>
            <a:pPr algn="l"/>
            <a:r>
              <a:rPr sz="1000" b="0" i="0">
                <a:solidFill>
                  <a:srgbClr val="BBCCDD"/>
                </a:solidFill>
                <a:latin typeface="Nunito Sans"/>
              </a:rPr>
              <a:t>– What narratives exist in the organisation today?</a:t>
            </a:r>
          </a:p>
        </p:txBody>
      </p:sp>
      <p:sp>
        <p:nvSpPr>
          <p:cNvPr id="13" name="TextBox 12"/>
          <p:cNvSpPr txBox="1"/>
          <p:nvPr/>
        </p:nvSpPr>
        <p:spPr>
          <a:xfrm>
            <a:off x="484632" y="5074920"/>
            <a:ext cx="2331720" cy="777240"/>
          </a:xfrm>
          <a:prstGeom prst="rect">
            <a:avLst/>
          </a:prstGeom>
          <a:noFill/>
        </p:spPr>
        <p:txBody>
          <a:bodyPr wrap="square">
            <a:spAutoFit/>
          </a:bodyPr>
          <a:lstStyle/>
          <a:p>
            <a:pPr algn="l"/>
            <a:r>
              <a:rPr sz="1000" b="0" i="0">
                <a:solidFill>
                  <a:srgbClr val="BBCCDD"/>
                </a:solidFill>
                <a:latin typeface="Nunito Sans"/>
              </a:rPr>
              <a:t>– What happens if we fail to change?</a:t>
            </a:r>
          </a:p>
        </p:txBody>
      </p:sp>
      <p:sp>
        <p:nvSpPr>
          <p:cNvPr id="14" name="TextBox 13"/>
          <p:cNvSpPr txBox="1"/>
          <p:nvPr/>
        </p:nvSpPr>
        <p:spPr>
          <a:xfrm>
            <a:off x="484632" y="6144768"/>
            <a:ext cx="2331720" cy="347472"/>
          </a:xfrm>
          <a:prstGeom prst="rect">
            <a:avLst/>
          </a:prstGeom>
          <a:noFill/>
        </p:spPr>
        <p:txBody>
          <a:bodyPr wrap="square">
            <a:spAutoFit/>
          </a:bodyPr>
          <a:lstStyle/>
          <a:p>
            <a:pPr algn="l"/>
            <a:r>
              <a:rPr sz="1100" b="1" i="0">
                <a:solidFill>
                  <a:srgbClr val="B52C75"/>
                </a:solidFill>
                <a:latin typeface="Nunito Sans"/>
              </a:rPr>
              <a:t>Headline: but…</a:t>
            </a:r>
          </a:p>
        </p:txBody>
      </p:sp>
      <p:sp>
        <p:nvSpPr>
          <p:cNvPr id="15" name="Rectangle 14"/>
          <p:cNvSpPr/>
          <p:nvPr/>
        </p:nvSpPr>
        <p:spPr>
          <a:xfrm>
            <a:off x="3063240" y="109728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63240" y="109728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1207008"/>
            <a:ext cx="4160520" cy="256032"/>
          </a:xfrm>
          <a:prstGeom prst="rect">
            <a:avLst/>
          </a:prstGeom>
          <a:noFill/>
        </p:spPr>
        <p:txBody>
          <a:bodyPr wrap="square">
            <a:spAutoFit/>
          </a:bodyPr>
          <a:lstStyle/>
          <a:p>
            <a:pPr algn="l"/>
            <a:r>
              <a:rPr sz="850" b="0" i="0">
                <a:solidFill>
                  <a:srgbClr val="778899"/>
                </a:solidFill>
                <a:latin typeface="Nunito Sans"/>
              </a:rPr>
              <a:t>THEME ONE · E.G. EXTERNAL CHALLENGES</a:t>
            </a:r>
          </a:p>
        </p:txBody>
      </p:sp>
      <p:sp>
        <p:nvSpPr>
          <p:cNvPr id="18" name="Rectangle 17"/>
          <p:cNvSpPr/>
          <p:nvPr/>
        </p:nvSpPr>
        <p:spPr>
          <a:xfrm>
            <a:off x="7699248" y="109728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99248" y="109728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36408" y="1207008"/>
            <a:ext cx="4160520" cy="256032"/>
          </a:xfrm>
          <a:prstGeom prst="rect">
            <a:avLst/>
          </a:prstGeom>
          <a:noFill/>
        </p:spPr>
        <p:txBody>
          <a:bodyPr wrap="square">
            <a:spAutoFit/>
          </a:bodyPr>
          <a:lstStyle/>
          <a:p>
            <a:pPr algn="l"/>
            <a:r>
              <a:rPr sz="850" b="0" i="0">
                <a:solidFill>
                  <a:srgbClr val="778899"/>
                </a:solidFill>
                <a:latin typeface="Nunito Sans"/>
              </a:rPr>
              <a:t>THEME TWO · E.G. INTERNAL CHALLENGES</a:t>
            </a:r>
          </a:p>
        </p:txBody>
      </p:sp>
      <p:sp>
        <p:nvSpPr>
          <p:cNvPr id="21" name="Rectangle 20"/>
          <p:cNvSpPr/>
          <p:nvPr/>
        </p:nvSpPr>
        <p:spPr>
          <a:xfrm>
            <a:off x="3063240" y="388620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063240" y="388620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0" y="3995928"/>
            <a:ext cx="4160520" cy="256032"/>
          </a:xfrm>
          <a:prstGeom prst="rect">
            <a:avLst/>
          </a:prstGeom>
          <a:noFill/>
        </p:spPr>
        <p:txBody>
          <a:bodyPr wrap="square">
            <a:spAutoFit/>
          </a:bodyPr>
          <a:lstStyle/>
          <a:p>
            <a:pPr algn="l"/>
            <a:r>
              <a:rPr sz="850" b="0" i="0">
                <a:solidFill>
                  <a:srgbClr val="778899"/>
                </a:solidFill>
                <a:latin typeface="Nunito Sans"/>
              </a:rPr>
              <a:t>THEME THREE · E.G. INTERNAL CHALLENGES</a:t>
            </a:r>
          </a:p>
        </p:txBody>
      </p:sp>
      <p:sp>
        <p:nvSpPr>
          <p:cNvPr id="24" name="Rectangle 23"/>
          <p:cNvSpPr/>
          <p:nvPr/>
        </p:nvSpPr>
        <p:spPr>
          <a:xfrm>
            <a:off x="7699248" y="388620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99248" y="388620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36408" y="3995928"/>
            <a:ext cx="4160520" cy="256032"/>
          </a:xfrm>
          <a:prstGeom prst="rect">
            <a:avLst/>
          </a:prstGeom>
          <a:noFill/>
        </p:spPr>
        <p:txBody>
          <a:bodyPr wrap="square">
            <a:spAutoFit/>
          </a:bodyPr>
          <a:lstStyle/>
          <a:p>
            <a:pPr algn="l"/>
            <a:r>
              <a:rPr sz="850" b="0" i="0">
                <a:solidFill>
                  <a:srgbClr val="778899"/>
                </a:solidFill>
                <a:latin typeface="Nunito Sans"/>
              </a:rPr>
              <a:t>THEME FOUR · E.G. CONSEQUENCES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37744"/>
            <a:ext cx="11457432" cy="256032"/>
          </a:xfrm>
          <a:prstGeom prst="rect">
            <a:avLst/>
          </a:prstGeom>
          <a:noFill/>
        </p:spPr>
        <p:txBody>
          <a:bodyPr wrap="square">
            <a:spAutoFit/>
          </a:bodyPr>
          <a:lstStyle/>
          <a:p>
            <a:pPr algn="l"/>
            <a:r>
              <a:rPr sz="1100" b="1" i="0">
                <a:solidFill>
                  <a:srgbClr val="B52C75"/>
                </a:solidFill>
                <a:latin typeface="Nunito Sans"/>
              </a:rPr>
              <a:t>CHAPTER THREE</a:t>
            </a:r>
          </a:p>
        </p:txBody>
      </p:sp>
      <p:sp>
        <p:nvSpPr>
          <p:cNvPr id="3" name="TextBox 2"/>
          <p:cNvSpPr txBox="1"/>
          <p:nvPr/>
        </p:nvSpPr>
        <p:spPr>
          <a:xfrm>
            <a:off x="365760" y="493776"/>
            <a:ext cx="11457432" cy="566928"/>
          </a:xfrm>
          <a:prstGeom prst="rect">
            <a:avLst/>
          </a:prstGeom>
          <a:noFill/>
        </p:spPr>
        <p:txBody>
          <a:bodyPr wrap="square">
            <a:spAutoFit/>
          </a:bodyPr>
          <a:lstStyle/>
          <a:p>
            <a:pPr algn="l"/>
            <a:r>
              <a:rPr sz="4000" b="1" i="0">
                <a:solidFill>
                  <a:srgbClr val="232C3A"/>
                </a:solidFill>
                <a:latin typeface="Nunito Sans"/>
              </a:rPr>
              <a:t>Developing your narrative</a:t>
            </a:r>
          </a:p>
        </p:txBody>
      </p:sp>
      <p:sp>
        <p:nvSpPr>
          <p:cNvPr id="4" name="Rectangle 3"/>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6" name="Rectangle 5"/>
          <p:cNvSpPr/>
          <p:nvPr/>
        </p:nvSpPr>
        <p:spPr>
          <a:xfrm>
            <a:off x="320040" y="1097280"/>
            <a:ext cx="2606040" cy="54864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828800" y="822960"/>
            <a:ext cx="1645920" cy="164592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 y="1298448"/>
            <a:ext cx="2331720" cy="256032"/>
          </a:xfrm>
          <a:prstGeom prst="rect">
            <a:avLst/>
          </a:prstGeom>
          <a:noFill/>
        </p:spPr>
        <p:txBody>
          <a:bodyPr wrap="square">
            <a:spAutoFit/>
          </a:bodyPr>
          <a:lstStyle/>
          <a:p>
            <a:pPr algn="l"/>
            <a:r>
              <a:rPr sz="1000" b="1" i="0">
                <a:solidFill>
                  <a:srgbClr val="94DCD4"/>
                </a:solidFill>
                <a:latin typeface="Nunito Sans"/>
              </a:rPr>
              <a:t>CHAPTER THREE</a:t>
            </a:r>
          </a:p>
        </p:txBody>
      </p:sp>
      <p:sp>
        <p:nvSpPr>
          <p:cNvPr id="9" name="TextBox 8"/>
          <p:cNvSpPr txBox="1"/>
          <p:nvPr/>
        </p:nvSpPr>
        <p:spPr>
          <a:xfrm>
            <a:off x="484632" y="1600200"/>
            <a:ext cx="2331720" cy="914400"/>
          </a:xfrm>
          <a:prstGeom prst="rect">
            <a:avLst/>
          </a:prstGeom>
          <a:noFill/>
        </p:spPr>
        <p:txBody>
          <a:bodyPr wrap="square">
            <a:spAutoFit/>
          </a:bodyPr>
          <a:lstStyle/>
          <a:p>
            <a:pPr algn="l"/>
            <a:r>
              <a:rPr sz="2000" b="1" i="0">
                <a:solidFill>
                  <a:srgbClr val="FFFFFF"/>
                </a:solidFill>
                <a:latin typeface="Nunito Sans"/>
              </a:rPr>
              <a:t>Our fundamental opportunity…</a:t>
            </a:r>
          </a:p>
        </p:txBody>
      </p:sp>
      <p:sp>
        <p:nvSpPr>
          <p:cNvPr id="10" name="TextBox 9"/>
          <p:cNvSpPr txBox="1"/>
          <p:nvPr/>
        </p:nvSpPr>
        <p:spPr>
          <a:xfrm>
            <a:off x="484632" y="2606040"/>
            <a:ext cx="2331720" cy="777240"/>
          </a:xfrm>
          <a:prstGeom prst="rect">
            <a:avLst/>
          </a:prstGeom>
          <a:noFill/>
        </p:spPr>
        <p:txBody>
          <a:bodyPr wrap="square">
            <a:spAutoFit/>
          </a:bodyPr>
          <a:lstStyle/>
          <a:p>
            <a:pPr algn="l"/>
            <a:r>
              <a:rPr sz="1000" b="0" i="0">
                <a:solidFill>
                  <a:srgbClr val="BBCCDD"/>
                </a:solidFill>
                <a:latin typeface="Nunito Sans"/>
              </a:rPr>
              <a:t>– What single ambition will make the biggest difference?</a:t>
            </a:r>
          </a:p>
        </p:txBody>
      </p:sp>
      <p:sp>
        <p:nvSpPr>
          <p:cNvPr id="11" name="TextBox 10"/>
          <p:cNvSpPr txBox="1"/>
          <p:nvPr/>
        </p:nvSpPr>
        <p:spPr>
          <a:xfrm>
            <a:off x="484632" y="3429000"/>
            <a:ext cx="2331720" cy="777240"/>
          </a:xfrm>
          <a:prstGeom prst="rect">
            <a:avLst/>
          </a:prstGeom>
          <a:noFill/>
        </p:spPr>
        <p:txBody>
          <a:bodyPr wrap="square">
            <a:spAutoFit/>
          </a:bodyPr>
          <a:lstStyle/>
          <a:p>
            <a:pPr algn="l"/>
            <a:r>
              <a:rPr sz="1000" b="0" i="0">
                <a:solidFill>
                  <a:srgbClr val="BBCCDD"/>
                </a:solidFill>
                <a:latin typeface="Nunito Sans"/>
              </a:rPr>
              <a:t>– How would you describe the fundamental shift we need?</a:t>
            </a:r>
          </a:p>
        </p:txBody>
      </p:sp>
      <p:sp>
        <p:nvSpPr>
          <p:cNvPr id="12" name="TextBox 11"/>
          <p:cNvSpPr txBox="1"/>
          <p:nvPr/>
        </p:nvSpPr>
        <p:spPr>
          <a:xfrm>
            <a:off x="484632" y="4251960"/>
            <a:ext cx="2331720" cy="777240"/>
          </a:xfrm>
          <a:prstGeom prst="rect">
            <a:avLst/>
          </a:prstGeom>
          <a:noFill/>
        </p:spPr>
        <p:txBody>
          <a:bodyPr wrap="square">
            <a:spAutoFit/>
          </a:bodyPr>
          <a:lstStyle/>
          <a:p>
            <a:pPr algn="l"/>
            <a:r>
              <a:rPr sz="1000" b="0" i="0">
                <a:solidFill>
                  <a:srgbClr val="BBCCDD"/>
                </a:solidFill>
                <a:latin typeface="Nunito Sans"/>
              </a:rPr>
              <a:t>– What opportunity will this unlock?</a:t>
            </a:r>
          </a:p>
        </p:txBody>
      </p:sp>
      <p:sp>
        <p:nvSpPr>
          <p:cNvPr id="13" name="TextBox 12"/>
          <p:cNvSpPr txBox="1"/>
          <p:nvPr/>
        </p:nvSpPr>
        <p:spPr>
          <a:xfrm>
            <a:off x="484632" y="5074920"/>
            <a:ext cx="2331720" cy="777240"/>
          </a:xfrm>
          <a:prstGeom prst="rect">
            <a:avLst/>
          </a:prstGeom>
          <a:noFill/>
        </p:spPr>
        <p:txBody>
          <a:bodyPr wrap="square">
            <a:spAutoFit/>
          </a:bodyPr>
          <a:lstStyle/>
          <a:p>
            <a:pPr algn="l"/>
            <a:r>
              <a:rPr sz="1000" b="0" i="0">
                <a:solidFill>
                  <a:srgbClr val="BBCCDD"/>
                </a:solidFill>
                <a:latin typeface="Nunito Sans"/>
              </a:rPr>
              <a:t>– If we were to create a ‘rallying cry’, what would it be?</a:t>
            </a:r>
          </a:p>
        </p:txBody>
      </p:sp>
      <p:sp>
        <p:nvSpPr>
          <p:cNvPr id="14" name="TextBox 13"/>
          <p:cNvSpPr txBox="1"/>
          <p:nvPr/>
        </p:nvSpPr>
        <p:spPr>
          <a:xfrm>
            <a:off x="484632" y="6144768"/>
            <a:ext cx="2331720" cy="347472"/>
          </a:xfrm>
          <a:prstGeom prst="rect">
            <a:avLst/>
          </a:prstGeom>
          <a:noFill/>
        </p:spPr>
        <p:txBody>
          <a:bodyPr wrap="square">
            <a:spAutoFit/>
          </a:bodyPr>
          <a:lstStyle/>
          <a:p>
            <a:pPr algn="l"/>
            <a:r>
              <a:rPr sz="1100" b="1" i="0">
                <a:solidFill>
                  <a:srgbClr val="B52C75"/>
                </a:solidFill>
                <a:latin typeface="Nunito Sans"/>
              </a:rPr>
              <a:t>Headline: so…</a:t>
            </a:r>
          </a:p>
        </p:txBody>
      </p:sp>
      <p:sp>
        <p:nvSpPr>
          <p:cNvPr id="15" name="Rectangle 14"/>
          <p:cNvSpPr/>
          <p:nvPr/>
        </p:nvSpPr>
        <p:spPr>
          <a:xfrm>
            <a:off x="3063240" y="109728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63240" y="109728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1207008"/>
            <a:ext cx="4160520" cy="256032"/>
          </a:xfrm>
          <a:prstGeom prst="rect">
            <a:avLst/>
          </a:prstGeom>
          <a:noFill/>
        </p:spPr>
        <p:txBody>
          <a:bodyPr wrap="square">
            <a:spAutoFit/>
          </a:bodyPr>
          <a:lstStyle/>
          <a:p>
            <a:pPr algn="l"/>
            <a:r>
              <a:rPr sz="850" b="0" i="0">
                <a:solidFill>
                  <a:srgbClr val="778899"/>
                </a:solidFill>
                <a:latin typeface="Nunito Sans"/>
              </a:rPr>
              <a:t>THEME ONE · E.G. AMBITION</a:t>
            </a:r>
          </a:p>
        </p:txBody>
      </p:sp>
      <p:sp>
        <p:nvSpPr>
          <p:cNvPr id="18" name="Rectangle 17"/>
          <p:cNvSpPr/>
          <p:nvPr/>
        </p:nvSpPr>
        <p:spPr>
          <a:xfrm>
            <a:off x="7699248" y="109728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99248" y="109728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36408" y="1207008"/>
            <a:ext cx="4160520" cy="256032"/>
          </a:xfrm>
          <a:prstGeom prst="rect">
            <a:avLst/>
          </a:prstGeom>
          <a:noFill/>
        </p:spPr>
        <p:txBody>
          <a:bodyPr wrap="square">
            <a:spAutoFit/>
          </a:bodyPr>
          <a:lstStyle/>
          <a:p>
            <a:pPr algn="l"/>
            <a:r>
              <a:rPr sz="850" b="0" i="0">
                <a:solidFill>
                  <a:srgbClr val="778899"/>
                </a:solidFill>
                <a:latin typeface="Nunito Sans"/>
              </a:rPr>
              <a:t>THEME TWO · E.G. THE SHIFT WE NEED TO MAKE</a:t>
            </a:r>
          </a:p>
        </p:txBody>
      </p:sp>
      <p:sp>
        <p:nvSpPr>
          <p:cNvPr id="21" name="Rectangle 20"/>
          <p:cNvSpPr/>
          <p:nvPr/>
        </p:nvSpPr>
        <p:spPr>
          <a:xfrm>
            <a:off x="3063240" y="388620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063240" y="388620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0" y="3995928"/>
            <a:ext cx="4160520" cy="256032"/>
          </a:xfrm>
          <a:prstGeom prst="rect">
            <a:avLst/>
          </a:prstGeom>
          <a:noFill/>
        </p:spPr>
        <p:txBody>
          <a:bodyPr wrap="square">
            <a:spAutoFit/>
          </a:bodyPr>
          <a:lstStyle/>
          <a:p>
            <a:pPr algn="l"/>
            <a:r>
              <a:rPr sz="850" b="0" i="0">
                <a:solidFill>
                  <a:srgbClr val="778899"/>
                </a:solidFill>
                <a:latin typeface="Nunito Sans"/>
              </a:rPr>
              <a:t>THEME THREE · E.G. OPPORTUNITY</a:t>
            </a:r>
          </a:p>
        </p:txBody>
      </p:sp>
      <p:sp>
        <p:nvSpPr>
          <p:cNvPr id="24" name="Rectangle 23"/>
          <p:cNvSpPr/>
          <p:nvPr/>
        </p:nvSpPr>
        <p:spPr>
          <a:xfrm>
            <a:off x="7699248" y="388620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99248" y="388620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36408" y="3995928"/>
            <a:ext cx="4160520" cy="256032"/>
          </a:xfrm>
          <a:prstGeom prst="rect">
            <a:avLst/>
          </a:prstGeom>
          <a:noFill/>
        </p:spPr>
        <p:txBody>
          <a:bodyPr wrap="square">
            <a:spAutoFit/>
          </a:bodyPr>
          <a:lstStyle/>
          <a:p>
            <a:pPr algn="l"/>
            <a:r>
              <a:rPr sz="850" b="0" i="0">
                <a:solidFill>
                  <a:srgbClr val="778899"/>
                </a:solidFill>
                <a:latin typeface="Nunito Sans"/>
              </a:rPr>
              <a:t>THEME FOUR · E.G. RALLYING CRY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37744"/>
            <a:ext cx="11457432" cy="256032"/>
          </a:xfrm>
          <a:prstGeom prst="rect">
            <a:avLst/>
          </a:prstGeom>
          <a:noFill/>
        </p:spPr>
        <p:txBody>
          <a:bodyPr wrap="square">
            <a:spAutoFit/>
          </a:bodyPr>
          <a:lstStyle/>
          <a:p>
            <a:pPr algn="l"/>
            <a:r>
              <a:rPr sz="1100" b="1" i="0">
                <a:solidFill>
                  <a:srgbClr val="B52C75"/>
                </a:solidFill>
                <a:latin typeface="Nunito Sans"/>
              </a:rPr>
              <a:t>CHAPTER FOUR</a:t>
            </a:r>
          </a:p>
        </p:txBody>
      </p:sp>
      <p:sp>
        <p:nvSpPr>
          <p:cNvPr id="3" name="TextBox 2"/>
          <p:cNvSpPr txBox="1"/>
          <p:nvPr/>
        </p:nvSpPr>
        <p:spPr>
          <a:xfrm>
            <a:off x="365760" y="493776"/>
            <a:ext cx="11457432" cy="566928"/>
          </a:xfrm>
          <a:prstGeom prst="rect">
            <a:avLst/>
          </a:prstGeom>
          <a:noFill/>
        </p:spPr>
        <p:txBody>
          <a:bodyPr wrap="square">
            <a:spAutoFit/>
          </a:bodyPr>
          <a:lstStyle/>
          <a:p>
            <a:pPr algn="l"/>
            <a:r>
              <a:rPr sz="4000" b="1" i="0">
                <a:solidFill>
                  <a:srgbClr val="232C3A"/>
                </a:solidFill>
                <a:latin typeface="Nunito Sans"/>
              </a:rPr>
              <a:t>Developing your narrative</a:t>
            </a:r>
          </a:p>
        </p:txBody>
      </p:sp>
      <p:sp>
        <p:nvSpPr>
          <p:cNvPr id="4" name="Rectangle 3"/>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6" name="Rectangle 5"/>
          <p:cNvSpPr/>
          <p:nvPr/>
        </p:nvSpPr>
        <p:spPr>
          <a:xfrm>
            <a:off x="320040" y="1097280"/>
            <a:ext cx="2606040" cy="54864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828800" y="822960"/>
            <a:ext cx="1645920" cy="164592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 y="1298448"/>
            <a:ext cx="2331720" cy="256032"/>
          </a:xfrm>
          <a:prstGeom prst="rect">
            <a:avLst/>
          </a:prstGeom>
          <a:noFill/>
        </p:spPr>
        <p:txBody>
          <a:bodyPr wrap="square">
            <a:spAutoFit/>
          </a:bodyPr>
          <a:lstStyle/>
          <a:p>
            <a:pPr algn="l"/>
            <a:r>
              <a:rPr sz="1000" b="1" i="0">
                <a:solidFill>
                  <a:srgbClr val="94DCD4"/>
                </a:solidFill>
                <a:latin typeface="Nunito Sans"/>
              </a:rPr>
              <a:t>CHAPTER FOUR</a:t>
            </a:r>
          </a:p>
        </p:txBody>
      </p:sp>
      <p:sp>
        <p:nvSpPr>
          <p:cNvPr id="9" name="TextBox 8"/>
          <p:cNvSpPr txBox="1"/>
          <p:nvPr/>
        </p:nvSpPr>
        <p:spPr>
          <a:xfrm>
            <a:off x="484632" y="1600200"/>
            <a:ext cx="2331720" cy="914400"/>
          </a:xfrm>
          <a:prstGeom prst="rect">
            <a:avLst/>
          </a:prstGeom>
          <a:noFill/>
        </p:spPr>
        <p:txBody>
          <a:bodyPr wrap="square">
            <a:spAutoFit/>
          </a:bodyPr>
          <a:lstStyle/>
          <a:p>
            <a:pPr algn="l"/>
            <a:r>
              <a:rPr sz="2000" b="1" i="0">
                <a:solidFill>
                  <a:srgbClr val="FFFFFF"/>
                </a:solidFill>
                <a:latin typeface="Nunito Sans"/>
              </a:rPr>
              <a:t>The journey our business will take…</a:t>
            </a:r>
          </a:p>
        </p:txBody>
      </p:sp>
      <p:sp>
        <p:nvSpPr>
          <p:cNvPr id="10" name="TextBox 9"/>
          <p:cNvSpPr txBox="1"/>
          <p:nvPr/>
        </p:nvSpPr>
        <p:spPr>
          <a:xfrm>
            <a:off x="484632" y="2606040"/>
            <a:ext cx="2331720" cy="777240"/>
          </a:xfrm>
          <a:prstGeom prst="rect">
            <a:avLst/>
          </a:prstGeom>
          <a:noFill/>
        </p:spPr>
        <p:txBody>
          <a:bodyPr wrap="square">
            <a:spAutoFit/>
          </a:bodyPr>
          <a:lstStyle/>
          <a:p>
            <a:pPr algn="l"/>
            <a:r>
              <a:rPr sz="1000" b="0" i="0">
                <a:solidFill>
                  <a:srgbClr val="BBCCDD"/>
                </a:solidFill>
                <a:latin typeface="Nunito Sans"/>
              </a:rPr>
              <a:t>– What investments or steps will the leadership team make?</a:t>
            </a:r>
          </a:p>
        </p:txBody>
      </p:sp>
      <p:sp>
        <p:nvSpPr>
          <p:cNvPr id="11" name="TextBox 10"/>
          <p:cNvSpPr txBox="1"/>
          <p:nvPr/>
        </p:nvSpPr>
        <p:spPr>
          <a:xfrm>
            <a:off x="484632" y="3429000"/>
            <a:ext cx="2331720" cy="777240"/>
          </a:xfrm>
          <a:prstGeom prst="rect">
            <a:avLst/>
          </a:prstGeom>
          <a:noFill/>
        </p:spPr>
        <p:txBody>
          <a:bodyPr wrap="square">
            <a:spAutoFit/>
          </a:bodyPr>
          <a:lstStyle/>
          <a:p>
            <a:pPr algn="l"/>
            <a:r>
              <a:rPr sz="1000" b="0" i="0">
                <a:solidFill>
                  <a:srgbClr val="BBCCDD"/>
                </a:solidFill>
                <a:latin typeface="Nunito Sans"/>
              </a:rPr>
              <a:t>– What resources or capabilities will we need to build?</a:t>
            </a:r>
          </a:p>
        </p:txBody>
      </p:sp>
      <p:sp>
        <p:nvSpPr>
          <p:cNvPr id="12" name="TextBox 11"/>
          <p:cNvSpPr txBox="1"/>
          <p:nvPr/>
        </p:nvSpPr>
        <p:spPr>
          <a:xfrm>
            <a:off x="484632" y="4251960"/>
            <a:ext cx="2331720" cy="777240"/>
          </a:xfrm>
          <a:prstGeom prst="rect">
            <a:avLst/>
          </a:prstGeom>
          <a:noFill/>
        </p:spPr>
        <p:txBody>
          <a:bodyPr wrap="square">
            <a:spAutoFit/>
          </a:bodyPr>
          <a:lstStyle/>
          <a:p>
            <a:pPr algn="l"/>
            <a:r>
              <a:rPr sz="1000" b="0" i="0">
                <a:solidFill>
                  <a:srgbClr val="BBCCDD"/>
                </a:solidFill>
                <a:latin typeface="Nunito Sans"/>
              </a:rPr>
              <a:t>– In what way can everyone contribute?</a:t>
            </a:r>
          </a:p>
        </p:txBody>
      </p:sp>
      <p:sp>
        <p:nvSpPr>
          <p:cNvPr id="13" name="TextBox 12"/>
          <p:cNvSpPr txBox="1"/>
          <p:nvPr/>
        </p:nvSpPr>
        <p:spPr>
          <a:xfrm>
            <a:off x="484632" y="5074920"/>
            <a:ext cx="2331720" cy="777240"/>
          </a:xfrm>
          <a:prstGeom prst="rect">
            <a:avLst/>
          </a:prstGeom>
          <a:noFill/>
        </p:spPr>
        <p:txBody>
          <a:bodyPr wrap="square">
            <a:spAutoFit/>
          </a:bodyPr>
          <a:lstStyle/>
          <a:p>
            <a:pPr algn="l"/>
            <a:r>
              <a:rPr sz="1000" b="0" i="0">
                <a:solidFill>
                  <a:srgbClr val="BBCCDD"/>
                </a:solidFill>
                <a:latin typeface="Nunito Sans"/>
              </a:rPr>
              <a:t>– What specific changes will people need to make?</a:t>
            </a:r>
          </a:p>
        </p:txBody>
      </p:sp>
      <p:sp>
        <p:nvSpPr>
          <p:cNvPr id="14" name="TextBox 13"/>
          <p:cNvSpPr txBox="1"/>
          <p:nvPr/>
        </p:nvSpPr>
        <p:spPr>
          <a:xfrm>
            <a:off x="484632" y="6144768"/>
            <a:ext cx="2331720" cy="347472"/>
          </a:xfrm>
          <a:prstGeom prst="rect">
            <a:avLst/>
          </a:prstGeom>
          <a:noFill/>
        </p:spPr>
        <p:txBody>
          <a:bodyPr wrap="square">
            <a:spAutoFit/>
          </a:bodyPr>
          <a:lstStyle/>
          <a:p>
            <a:pPr algn="l"/>
            <a:r>
              <a:rPr sz="1100" b="1" i="0">
                <a:solidFill>
                  <a:srgbClr val="B52C75"/>
                </a:solidFill>
                <a:latin typeface="Nunito Sans"/>
              </a:rPr>
              <a:t>Headline: by…</a:t>
            </a:r>
          </a:p>
        </p:txBody>
      </p:sp>
      <p:sp>
        <p:nvSpPr>
          <p:cNvPr id="15" name="Rectangle 14"/>
          <p:cNvSpPr/>
          <p:nvPr/>
        </p:nvSpPr>
        <p:spPr>
          <a:xfrm>
            <a:off x="3063240" y="109728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63240" y="109728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1207008"/>
            <a:ext cx="4160520" cy="256032"/>
          </a:xfrm>
          <a:prstGeom prst="rect">
            <a:avLst/>
          </a:prstGeom>
          <a:noFill/>
        </p:spPr>
        <p:txBody>
          <a:bodyPr wrap="square">
            <a:spAutoFit/>
          </a:bodyPr>
          <a:lstStyle/>
          <a:p>
            <a:pPr algn="l"/>
            <a:r>
              <a:rPr sz="850" b="0" i="0">
                <a:solidFill>
                  <a:srgbClr val="778899"/>
                </a:solidFill>
                <a:latin typeface="Nunito Sans"/>
              </a:rPr>
              <a:t>THEME ONE · E.G. COMMITMENTS</a:t>
            </a:r>
          </a:p>
        </p:txBody>
      </p:sp>
      <p:sp>
        <p:nvSpPr>
          <p:cNvPr id="18" name="Rectangle 17"/>
          <p:cNvSpPr/>
          <p:nvPr/>
        </p:nvSpPr>
        <p:spPr>
          <a:xfrm>
            <a:off x="7699248" y="109728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99248" y="109728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36408" y="1207008"/>
            <a:ext cx="4160520" cy="256032"/>
          </a:xfrm>
          <a:prstGeom prst="rect">
            <a:avLst/>
          </a:prstGeom>
          <a:noFill/>
        </p:spPr>
        <p:txBody>
          <a:bodyPr wrap="square">
            <a:spAutoFit/>
          </a:bodyPr>
          <a:lstStyle/>
          <a:p>
            <a:pPr algn="l"/>
            <a:r>
              <a:rPr sz="850" b="0" i="0">
                <a:solidFill>
                  <a:srgbClr val="778899"/>
                </a:solidFill>
                <a:latin typeface="Nunito Sans"/>
              </a:rPr>
              <a:t>THEME TWO · E.G. COMMITMENTS</a:t>
            </a:r>
          </a:p>
        </p:txBody>
      </p:sp>
      <p:sp>
        <p:nvSpPr>
          <p:cNvPr id="21" name="Rectangle 20"/>
          <p:cNvSpPr/>
          <p:nvPr/>
        </p:nvSpPr>
        <p:spPr>
          <a:xfrm>
            <a:off x="3063240" y="388620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063240" y="388620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0" y="3995928"/>
            <a:ext cx="4160520" cy="256032"/>
          </a:xfrm>
          <a:prstGeom prst="rect">
            <a:avLst/>
          </a:prstGeom>
          <a:noFill/>
        </p:spPr>
        <p:txBody>
          <a:bodyPr wrap="square">
            <a:spAutoFit/>
          </a:bodyPr>
          <a:lstStyle/>
          <a:p>
            <a:pPr algn="l"/>
            <a:r>
              <a:rPr sz="850" b="0" i="0">
                <a:solidFill>
                  <a:srgbClr val="778899"/>
                </a:solidFill>
                <a:latin typeface="Nunito Sans"/>
              </a:rPr>
              <a:t>THEME THREE · E.G. CONTRIBUTION</a:t>
            </a:r>
          </a:p>
        </p:txBody>
      </p:sp>
      <p:sp>
        <p:nvSpPr>
          <p:cNvPr id="24" name="Rectangle 23"/>
          <p:cNvSpPr/>
          <p:nvPr/>
        </p:nvSpPr>
        <p:spPr>
          <a:xfrm>
            <a:off x="7699248" y="388620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99248" y="388620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36408" y="3995928"/>
            <a:ext cx="4160520" cy="256032"/>
          </a:xfrm>
          <a:prstGeom prst="rect">
            <a:avLst/>
          </a:prstGeom>
          <a:noFill/>
        </p:spPr>
        <p:txBody>
          <a:bodyPr wrap="square">
            <a:spAutoFit/>
          </a:bodyPr>
          <a:lstStyle/>
          <a:p>
            <a:pPr algn="l"/>
            <a:r>
              <a:rPr sz="850" b="0" i="0">
                <a:solidFill>
                  <a:srgbClr val="778899"/>
                </a:solidFill>
                <a:latin typeface="Nunito Sans"/>
              </a:rPr>
              <a:t>THEME FOUR · E.G. CONTRIBUTION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37744"/>
            <a:ext cx="11457432" cy="256032"/>
          </a:xfrm>
          <a:prstGeom prst="rect">
            <a:avLst/>
          </a:prstGeom>
          <a:noFill/>
        </p:spPr>
        <p:txBody>
          <a:bodyPr wrap="square">
            <a:spAutoFit/>
          </a:bodyPr>
          <a:lstStyle/>
          <a:p>
            <a:pPr algn="l"/>
            <a:r>
              <a:rPr sz="1100" b="1" i="0">
                <a:solidFill>
                  <a:srgbClr val="B52C75"/>
                </a:solidFill>
                <a:latin typeface="Nunito Sans"/>
              </a:rPr>
              <a:t>CHAPTER FIVE</a:t>
            </a:r>
          </a:p>
        </p:txBody>
      </p:sp>
      <p:sp>
        <p:nvSpPr>
          <p:cNvPr id="3" name="TextBox 2"/>
          <p:cNvSpPr txBox="1"/>
          <p:nvPr/>
        </p:nvSpPr>
        <p:spPr>
          <a:xfrm>
            <a:off x="365760" y="493776"/>
            <a:ext cx="11457432" cy="566928"/>
          </a:xfrm>
          <a:prstGeom prst="rect">
            <a:avLst/>
          </a:prstGeom>
          <a:noFill/>
        </p:spPr>
        <p:txBody>
          <a:bodyPr wrap="square">
            <a:spAutoFit/>
          </a:bodyPr>
          <a:lstStyle/>
          <a:p>
            <a:pPr algn="l"/>
            <a:r>
              <a:rPr sz="4000" b="1" i="0">
                <a:solidFill>
                  <a:srgbClr val="232C3A"/>
                </a:solidFill>
                <a:latin typeface="Nunito Sans"/>
              </a:rPr>
              <a:t>Developing your narrative</a:t>
            </a:r>
          </a:p>
        </p:txBody>
      </p:sp>
      <p:sp>
        <p:nvSpPr>
          <p:cNvPr id="4" name="Rectangle 3"/>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6" name="Rectangle 5"/>
          <p:cNvSpPr/>
          <p:nvPr/>
        </p:nvSpPr>
        <p:spPr>
          <a:xfrm>
            <a:off x="320040" y="1097280"/>
            <a:ext cx="2606040" cy="54864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828800" y="822960"/>
            <a:ext cx="1645920" cy="164592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 y="1298448"/>
            <a:ext cx="2331720" cy="256032"/>
          </a:xfrm>
          <a:prstGeom prst="rect">
            <a:avLst/>
          </a:prstGeom>
          <a:noFill/>
        </p:spPr>
        <p:txBody>
          <a:bodyPr wrap="square">
            <a:spAutoFit/>
          </a:bodyPr>
          <a:lstStyle/>
          <a:p>
            <a:pPr algn="l"/>
            <a:r>
              <a:rPr sz="1000" b="1" i="0">
                <a:solidFill>
                  <a:srgbClr val="94DCD4"/>
                </a:solidFill>
                <a:latin typeface="Nunito Sans"/>
              </a:rPr>
              <a:t>CHAPTER FIVE</a:t>
            </a:r>
          </a:p>
        </p:txBody>
      </p:sp>
      <p:sp>
        <p:nvSpPr>
          <p:cNvPr id="9" name="TextBox 8"/>
          <p:cNvSpPr txBox="1"/>
          <p:nvPr/>
        </p:nvSpPr>
        <p:spPr>
          <a:xfrm>
            <a:off x="484632" y="1600200"/>
            <a:ext cx="2331720" cy="914400"/>
          </a:xfrm>
          <a:prstGeom prst="rect">
            <a:avLst/>
          </a:prstGeom>
          <a:noFill/>
        </p:spPr>
        <p:txBody>
          <a:bodyPr wrap="square">
            <a:spAutoFit/>
          </a:bodyPr>
          <a:lstStyle/>
          <a:p>
            <a:pPr algn="l"/>
            <a:r>
              <a:rPr sz="2000" b="1" i="0">
                <a:solidFill>
                  <a:srgbClr val="FFFFFF"/>
                </a:solidFill>
                <a:latin typeface="Nunito Sans"/>
              </a:rPr>
              <a:t>The desired destination…</a:t>
            </a:r>
          </a:p>
        </p:txBody>
      </p:sp>
      <p:sp>
        <p:nvSpPr>
          <p:cNvPr id="10" name="TextBox 9"/>
          <p:cNvSpPr txBox="1"/>
          <p:nvPr/>
        </p:nvSpPr>
        <p:spPr>
          <a:xfrm>
            <a:off x="484632" y="2606040"/>
            <a:ext cx="2331720" cy="777240"/>
          </a:xfrm>
          <a:prstGeom prst="rect">
            <a:avLst/>
          </a:prstGeom>
          <a:noFill/>
        </p:spPr>
        <p:txBody>
          <a:bodyPr wrap="square">
            <a:spAutoFit/>
          </a:bodyPr>
          <a:lstStyle/>
          <a:p>
            <a:pPr algn="l"/>
            <a:r>
              <a:rPr sz="1000" b="0" i="0">
                <a:solidFill>
                  <a:srgbClr val="BBCCDD"/>
                </a:solidFill>
                <a:latin typeface="Nunito Sans"/>
              </a:rPr>
              <a:t>– How will we know when we have reached our destination?</a:t>
            </a:r>
          </a:p>
        </p:txBody>
      </p:sp>
      <p:sp>
        <p:nvSpPr>
          <p:cNvPr id="11" name="TextBox 10"/>
          <p:cNvSpPr txBox="1"/>
          <p:nvPr/>
        </p:nvSpPr>
        <p:spPr>
          <a:xfrm>
            <a:off x="484632" y="3429000"/>
            <a:ext cx="2331720" cy="777240"/>
          </a:xfrm>
          <a:prstGeom prst="rect">
            <a:avLst/>
          </a:prstGeom>
          <a:noFill/>
        </p:spPr>
        <p:txBody>
          <a:bodyPr wrap="square">
            <a:spAutoFit/>
          </a:bodyPr>
          <a:lstStyle/>
          <a:p>
            <a:pPr algn="l"/>
            <a:r>
              <a:rPr sz="1000" b="0" i="0">
                <a:solidFill>
                  <a:srgbClr val="BBCCDD"/>
                </a:solidFill>
                <a:latin typeface="Nunito Sans"/>
              </a:rPr>
              <a:t>– What will success look and feel like?</a:t>
            </a:r>
          </a:p>
        </p:txBody>
      </p:sp>
      <p:sp>
        <p:nvSpPr>
          <p:cNvPr id="12" name="TextBox 11"/>
          <p:cNvSpPr txBox="1"/>
          <p:nvPr/>
        </p:nvSpPr>
        <p:spPr>
          <a:xfrm>
            <a:off x="484632" y="4251960"/>
            <a:ext cx="2331720" cy="777240"/>
          </a:xfrm>
          <a:prstGeom prst="rect">
            <a:avLst/>
          </a:prstGeom>
          <a:noFill/>
        </p:spPr>
        <p:txBody>
          <a:bodyPr wrap="square">
            <a:spAutoFit/>
          </a:bodyPr>
          <a:lstStyle/>
          <a:p>
            <a:pPr algn="l"/>
            <a:r>
              <a:rPr sz="1000" b="0" i="0">
                <a:solidFill>
                  <a:srgbClr val="BBCCDD"/>
                </a:solidFill>
                <a:latin typeface="Nunito Sans"/>
              </a:rPr>
              <a:t>– What will the benefits of this journey be?</a:t>
            </a:r>
          </a:p>
        </p:txBody>
      </p:sp>
      <p:sp>
        <p:nvSpPr>
          <p:cNvPr id="13" name="TextBox 12"/>
          <p:cNvSpPr txBox="1"/>
          <p:nvPr/>
        </p:nvSpPr>
        <p:spPr>
          <a:xfrm>
            <a:off x="484632" y="5074920"/>
            <a:ext cx="2331720" cy="777240"/>
          </a:xfrm>
          <a:prstGeom prst="rect">
            <a:avLst/>
          </a:prstGeom>
          <a:noFill/>
        </p:spPr>
        <p:txBody>
          <a:bodyPr wrap="square">
            <a:spAutoFit/>
          </a:bodyPr>
          <a:lstStyle/>
          <a:p>
            <a:pPr algn="l"/>
            <a:r>
              <a:rPr sz="1000" b="0" i="0">
                <a:solidFill>
                  <a:srgbClr val="BBCCDD"/>
                </a:solidFill>
                <a:latin typeface="Nunito Sans"/>
              </a:rPr>
              <a:t>– What stories will people tell about your organisation?</a:t>
            </a:r>
          </a:p>
        </p:txBody>
      </p:sp>
      <p:sp>
        <p:nvSpPr>
          <p:cNvPr id="14" name="TextBox 13"/>
          <p:cNvSpPr txBox="1"/>
          <p:nvPr/>
        </p:nvSpPr>
        <p:spPr>
          <a:xfrm>
            <a:off x="484632" y="6144768"/>
            <a:ext cx="2331720" cy="347472"/>
          </a:xfrm>
          <a:prstGeom prst="rect">
            <a:avLst/>
          </a:prstGeom>
          <a:noFill/>
        </p:spPr>
        <p:txBody>
          <a:bodyPr wrap="square">
            <a:spAutoFit/>
          </a:bodyPr>
          <a:lstStyle/>
          <a:p>
            <a:pPr algn="l"/>
            <a:r>
              <a:rPr sz="1100" b="1" i="0">
                <a:solidFill>
                  <a:srgbClr val="B52C75"/>
                </a:solidFill>
                <a:latin typeface="Nunito Sans"/>
              </a:rPr>
              <a:t>Headline: we will…</a:t>
            </a:r>
          </a:p>
        </p:txBody>
      </p:sp>
      <p:sp>
        <p:nvSpPr>
          <p:cNvPr id="15" name="Rectangle 14"/>
          <p:cNvSpPr/>
          <p:nvPr/>
        </p:nvSpPr>
        <p:spPr>
          <a:xfrm>
            <a:off x="3063240" y="109728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63240" y="109728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1207008"/>
            <a:ext cx="4160520" cy="256032"/>
          </a:xfrm>
          <a:prstGeom prst="rect">
            <a:avLst/>
          </a:prstGeom>
          <a:noFill/>
        </p:spPr>
        <p:txBody>
          <a:bodyPr wrap="square">
            <a:spAutoFit/>
          </a:bodyPr>
          <a:lstStyle/>
          <a:p>
            <a:pPr algn="l"/>
            <a:r>
              <a:rPr sz="850" b="0" i="0">
                <a:solidFill>
                  <a:srgbClr val="778899"/>
                </a:solidFill>
                <a:latin typeface="Nunito Sans"/>
              </a:rPr>
              <a:t>THEME ONE · E.G. BUSINESS</a:t>
            </a:r>
          </a:p>
        </p:txBody>
      </p:sp>
      <p:sp>
        <p:nvSpPr>
          <p:cNvPr id="18" name="Rectangle 17"/>
          <p:cNvSpPr/>
          <p:nvPr/>
        </p:nvSpPr>
        <p:spPr>
          <a:xfrm>
            <a:off x="7699248" y="109728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99248" y="109728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36408" y="1207008"/>
            <a:ext cx="4160520" cy="256032"/>
          </a:xfrm>
          <a:prstGeom prst="rect">
            <a:avLst/>
          </a:prstGeom>
          <a:noFill/>
        </p:spPr>
        <p:txBody>
          <a:bodyPr wrap="square">
            <a:spAutoFit/>
          </a:bodyPr>
          <a:lstStyle/>
          <a:p>
            <a:pPr algn="l"/>
            <a:r>
              <a:rPr sz="850" b="0" i="0">
                <a:solidFill>
                  <a:srgbClr val="778899"/>
                </a:solidFill>
                <a:latin typeface="Nunito Sans"/>
              </a:rPr>
              <a:t>THEME TWO · E.G. CUSTOMERS</a:t>
            </a:r>
          </a:p>
        </p:txBody>
      </p:sp>
      <p:sp>
        <p:nvSpPr>
          <p:cNvPr id="21" name="Rectangle 20"/>
          <p:cNvSpPr/>
          <p:nvPr/>
        </p:nvSpPr>
        <p:spPr>
          <a:xfrm>
            <a:off x="3063240" y="388620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063240" y="388620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0" y="3995928"/>
            <a:ext cx="4160520" cy="256032"/>
          </a:xfrm>
          <a:prstGeom prst="rect">
            <a:avLst/>
          </a:prstGeom>
          <a:noFill/>
        </p:spPr>
        <p:txBody>
          <a:bodyPr wrap="square">
            <a:spAutoFit/>
          </a:bodyPr>
          <a:lstStyle/>
          <a:p>
            <a:pPr algn="l"/>
            <a:r>
              <a:rPr sz="850" b="0" i="0">
                <a:solidFill>
                  <a:srgbClr val="778899"/>
                </a:solidFill>
                <a:latin typeface="Nunito Sans"/>
              </a:rPr>
              <a:t>THEME THREE · E.G. PEOPLE</a:t>
            </a:r>
          </a:p>
        </p:txBody>
      </p:sp>
      <p:sp>
        <p:nvSpPr>
          <p:cNvPr id="24" name="Rectangle 23"/>
          <p:cNvSpPr/>
          <p:nvPr/>
        </p:nvSpPr>
        <p:spPr>
          <a:xfrm>
            <a:off x="7699248" y="3886200"/>
            <a:ext cx="4434840" cy="2670048"/>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99248" y="3886200"/>
            <a:ext cx="443484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36408" y="3995928"/>
            <a:ext cx="4160520" cy="256032"/>
          </a:xfrm>
          <a:prstGeom prst="rect">
            <a:avLst/>
          </a:prstGeom>
          <a:noFill/>
        </p:spPr>
        <p:txBody>
          <a:bodyPr wrap="square">
            <a:spAutoFit/>
          </a:bodyPr>
          <a:lstStyle/>
          <a:p>
            <a:pPr algn="l"/>
            <a:r>
              <a:rPr sz="850" b="0" i="0">
                <a:solidFill>
                  <a:srgbClr val="778899"/>
                </a:solidFill>
                <a:latin typeface="Nunito Sans"/>
              </a:rPr>
              <a:t>THEME FOUR · E.G. COMMUNITY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28600"/>
            <a:ext cx="11457432" cy="804672"/>
          </a:xfrm>
          <a:prstGeom prst="rect">
            <a:avLst/>
          </a:prstGeom>
          <a:noFill/>
        </p:spPr>
        <p:txBody>
          <a:bodyPr wrap="square">
            <a:spAutoFit/>
          </a:bodyPr>
          <a:lstStyle/>
          <a:p>
            <a:pPr algn="l"/>
            <a:r>
              <a:rPr sz="4000" b="1" i="0">
                <a:solidFill>
                  <a:srgbClr val="232C3A"/>
                </a:solidFill>
                <a:latin typeface="Nunito Sans"/>
              </a:rPr>
              <a:t>Developing your narrative: headline level</a:t>
            </a:r>
          </a:p>
        </p:txBody>
      </p:sp>
      <p:sp>
        <p:nvSpPr>
          <p:cNvPr id="3" name="Rectangle 2"/>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5" name="TextBox 4"/>
          <p:cNvSpPr txBox="1"/>
          <p:nvPr/>
        </p:nvSpPr>
        <p:spPr>
          <a:xfrm>
            <a:off x="365760" y="1170432"/>
            <a:ext cx="11457432" cy="438912"/>
          </a:xfrm>
          <a:prstGeom prst="rect">
            <a:avLst/>
          </a:prstGeom>
          <a:noFill/>
        </p:spPr>
        <p:txBody>
          <a:bodyPr wrap="square">
            <a:spAutoFit/>
          </a:bodyPr>
          <a:lstStyle/>
          <a:p>
            <a:pPr algn="l"/>
            <a:r>
              <a:rPr sz="1300" b="0" i="0">
                <a:solidFill>
                  <a:srgbClr val="3A4A55"/>
                </a:solidFill>
                <a:latin typeface="Nunito Sans"/>
              </a:rPr>
              <a:t>You have now built the raw material for your five-chapter narrative. The next step is to distil this into a headline narrative — a short, memorable version that captures the essence of each chapter.</a:t>
            </a:r>
          </a:p>
        </p:txBody>
      </p:sp>
      <p:sp>
        <p:nvSpPr>
          <p:cNvPr id="6" name="TextBox 5"/>
          <p:cNvSpPr txBox="1"/>
          <p:nvPr/>
        </p:nvSpPr>
        <p:spPr>
          <a:xfrm>
            <a:off x="365760" y="1664208"/>
            <a:ext cx="11457432" cy="365760"/>
          </a:xfrm>
          <a:prstGeom prst="rect">
            <a:avLst/>
          </a:prstGeom>
          <a:noFill/>
        </p:spPr>
        <p:txBody>
          <a:bodyPr wrap="square">
            <a:spAutoFit/>
          </a:bodyPr>
          <a:lstStyle/>
          <a:p>
            <a:pPr algn="l"/>
            <a:r>
              <a:rPr sz="1300" b="0" i="0">
                <a:solidFill>
                  <a:srgbClr val="3A4A55"/>
                </a:solidFill>
                <a:latin typeface="Nunito Sans"/>
              </a:rPr>
              <a:t>Use the boxes below to capture a headline sentence for each chapter. These will form the spine of your strategic narrative.</a:t>
            </a:r>
          </a:p>
        </p:txBody>
      </p:sp>
      <p:sp>
        <p:nvSpPr>
          <p:cNvPr id="7" name="Rectangle 6"/>
          <p:cNvSpPr/>
          <p:nvPr/>
        </p:nvSpPr>
        <p:spPr>
          <a:xfrm>
            <a:off x="320040" y="2331720"/>
            <a:ext cx="2212848" cy="4160520"/>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2331720"/>
            <a:ext cx="2212848"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2441448"/>
            <a:ext cx="1993392" cy="256032"/>
          </a:xfrm>
          <a:prstGeom prst="rect">
            <a:avLst/>
          </a:prstGeom>
          <a:noFill/>
        </p:spPr>
        <p:txBody>
          <a:bodyPr wrap="square">
            <a:spAutoFit/>
          </a:bodyPr>
          <a:lstStyle/>
          <a:p>
            <a:pPr algn="l"/>
            <a:r>
              <a:rPr sz="900" b="1" i="0">
                <a:solidFill>
                  <a:srgbClr val="94DCD4"/>
                </a:solidFill>
                <a:latin typeface="Nunito Sans"/>
              </a:rPr>
              <a:t>CHAPTER ONE</a:t>
            </a:r>
          </a:p>
        </p:txBody>
      </p:sp>
      <p:sp>
        <p:nvSpPr>
          <p:cNvPr id="10" name="TextBox 9"/>
          <p:cNvSpPr txBox="1"/>
          <p:nvPr/>
        </p:nvSpPr>
        <p:spPr>
          <a:xfrm>
            <a:off x="429768" y="2724912"/>
            <a:ext cx="1993392" cy="256032"/>
          </a:xfrm>
          <a:prstGeom prst="rect">
            <a:avLst/>
          </a:prstGeom>
          <a:noFill/>
        </p:spPr>
        <p:txBody>
          <a:bodyPr wrap="square">
            <a:spAutoFit/>
          </a:bodyPr>
          <a:lstStyle/>
          <a:p>
            <a:pPr algn="l"/>
            <a:r>
              <a:rPr sz="900" b="0" i="1">
                <a:solidFill>
                  <a:srgbClr val="AAAAAA"/>
                </a:solidFill>
                <a:latin typeface="Nunito Sans"/>
              </a:rPr>
              <a:t>pride and purpose</a:t>
            </a:r>
          </a:p>
        </p:txBody>
      </p:sp>
      <p:sp>
        <p:nvSpPr>
          <p:cNvPr id="11" name="TextBox 10"/>
          <p:cNvSpPr txBox="1"/>
          <p:nvPr/>
        </p:nvSpPr>
        <p:spPr>
          <a:xfrm>
            <a:off x="429768" y="3017520"/>
            <a:ext cx="1993392" cy="411480"/>
          </a:xfrm>
          <a:prstGeom prst="rect">
            <a:avLst/>
          </a:prstGeom>
          <a:noFill/>
        </p:spPr>
        <p:txBody>
          <a:bodyPr wrap="square">
            <a:spAutoFit/>
          </a:bodyPr>
          <a:lstStyle/>
          <a:p>
            <a:pPr algn="l"/>
            <a:r>
              <a:rPr sz="1600" b="1" i="0">
                <a:solidFill>
                  <a:srgbClr val="B52C75"/>
                </a:solidFill>
                <a:latin typeface="Nunito Sans"/>
              </a:rPr>
              <a:t>We are…</a:t>
            </a:r>
          </a:p>
        </p:txBody>
      </p:sp>
      <p:sp>
        <p:nvSpPr>
          <p:cNvPr id="12" name="Rectangle 11"/>
          <p:cNvSpPr/>
          <p:nvPr/>
        </p:nvSpPr>
        <p:spPr>
          <a:xfrm>
            <a:off x="2642616" y="2331720"/>
            <a:ext cx="2212848" cy="4160520"/>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42616" y="2331720"/>
            <a:ext cx="2212848"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52344" y="2441448"/>
            <a:ext cx="1993392" cy="256032"/>
          </a:xfrm>
          <a:prstGeom prst="rect">
            <a:avLst/>
          </a:prstGeom>
          <a:noFill/>
        </p:spPr>
        <p:txBody>
          <a:bodyPr wrap="square">
            <a:spAutoFit/>
          </a:bodyPr>
          <a:lstStyle/>
          <a:p>
            <a:pPr algn="l"/>
            <a:r>
              <a:rPr sz="900" b="1" i="0">
                <a:solidFill>
                  <a:srgbClr val="94DCD4"/>
                </a:solidFill>
                <a:latin typeface="Nunito Sans"/>
              </a:rPr>
              <a:t>CHAPTER TWO</a:t>
            </a:r>
          </a:p>
        </p:txBody>
      </p:sp>
      <p:sp>
        <p:nvSpPr>
          <p:cNvPr id="15" name="TextBox 14"/>
          <p:cNvSpPr txBox="1"/>
          <p:nvPr/>
        </p:nvSpPr>
        <p:spPr>
          <a:xfrm>
            <a:off x="2752344" y="2724912"/>
            <a:ext cx="1993392" cy="256032"/>
          </a:xfrm>
          <a:prstGeom prst="rect">
            <a:avLst/>
          </a:prstGeom>
          <a:noFill/>
        </p:spPr>
        <p:txBody>
          <a:bodyPr wrap="square">
            <a:spAutoFit/>
          </a:bodyPr>
          <a:lstStyle/>
          <a:p>
            <a:pPr algn="l"/>
            <a:r>
              <a:rPr sz="900" b="0" i="1">
                <a:solidFill>
                  <a:srgbClr val="AAAAAA"/>
                </a:solidFill>
                <a:latin typeface="Nunito Sans"/>
              </a:rPr>
              <a:t>current reality</a:t>
            </a:r>
          </a:p>
        </p:txBody>
      </p:sp>
      <p:sp>
        <p:nvSpPr>
          <p:cNvPr id="16" name="TextBox 15"/>
          <p:cNvSpPr txBox="1"/>
          <p:nvPr/>
        </p:nvSpPr>
        <p:spPr>
          <a:xfrm>
            <a:off x="2752344" y="3017520"/>
            <a:ext cx="1993392" cy="411480"/>
          </a:xfrm>
          <a:prstGeom prst="rect">
            <a:avLst/>
          </a:prstGeom>
          <a:noFill/>
        </p:spPr>
        <p:txBody>
          <a:bodyPr wrap="square">
            <a:spAutoFit/>
          </a:bodyPr>
          <a:lstStyle/>
          <a:p>
            <a:pPr algn="l"/>
            <a:r>
              <a:rPr sz="1600" b="1" i="0">
                <a:solidFill>
                  <a:srgbClr val="B52C75"/>
                </a:solidFill>
                <a:latin typeface="Nunito Sans"/>
              </a:rPr>
              <a:t>But…</a:t>
            </a:r>
          </a:p>
        </p:txBody>
      </p:sp>
      <p:sp>
        <p:nvSpPr>
          <p:cNvPr id="17" name="Rectangle 16"/>
          <p:cNvSpPr/>
          <p:nvPr/>
        </p:nvSpPr>
        <p:spPr>
          <a:xfrm>
            <a:off x="4965192" y="2331720"/>
            <a:ext cx="2212848" cy="4160520"/>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65192" y="2331720"/>
            <a:ext cx="2212848"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74920" y="2441448"/>
            <a:ext cx="1993392" cy="256032"/>
          </a:xfrm>
          <a:prstGeom prst="rect">
            <a:avLst/>
          </a:prstGeom>
          <a:noFill/>
        </p:spPr>
        <p:txBody>
          <a:bodyPr wrap="square">
            <a:spAutoFit/>
          </a:bodyPr>
          <a:lstStyle/>
          <a:p>
            <a:pPr algn="l"/>
            <a:r>
              <a:rPr sz="900" b="1" i="0">
                <a:solidFill>
                  <a:srgbClr val="94DCD4"/>
                </a:solidFill>
                <a:latin typeface="Nunito Sans"/>
              </a:rPr>
              <a:t>CHAPTER THREE</a:t>
            </a:r>
          </a:p>
        </p:txBody>
      </p:sp>
      <p:sp>
        <p:nvSpPr>
          <p:cNvPr id="20" name="TextBox 19"/>
          <p:cNvSpPr txBox="1"/>
          <p:nvPr/>
        </p:nvSpPr>
        <p:spPr>
          <a:xfrm>
            <a:off x="5074920" y="2724912"/>
            <a:ext cx="1993392" cy="256032"/>
          </a:xfrm>
          <a:prstGeom prst="rect">
            <a:avLst/>
          </a:prstGeom>
          <a:noFill/>
        </p:spPr>
        <p:txBody>
          <a:bodyPr wrap="square">
            <a:spAutoFit/>
          </a:bodyPr>
          <a:lstStyle/>
          <a:p>
            <a:pPr algn="l"/>
            <a:r>
              <a:rPr sz="900" b="0" i="1">
                <a:solidFill>
                  <a:srgbClr val="AAAAAA"/>
                </a:solidFill>
                <a:latin typeface="Nunito Sans"/>
              </a:rPr>
              <a:t>our fundamental opportunity</a:t>
            </a:r>
          </a:p>
        </p:txBody>
      </p:sp>
      <p:sp>
        <p:nvSpPr>
          <p:cNvPr id="21" name="TextBox 20"/>
          <p:cNvSpPr txBox="1"/>
          <p:nvPr/>
        </p:nvSpPr>
        <p:spPr>
          <a:xfrm>
            <a:off x="5074920" y="3017520"/>
            <a:ext cx="1993392" cy="411480"/>
          </a:xfrm>
          <a:prstGeom prst="rect">
            <a:avLst/>
          </a:prstGeom>
          <a:noFill/>
        </p:spPr>
        <p:txBody>
          <a:bodyPr wrap="square">
            <a:spAutoFit/>
          </a:bodyPr>
          <a:lstStyle/>
          <a:p>
            <a:pPr algn="l"/>
            <a:r>
              <a:rPr sz="1600" b="1" i="0">
                <a:solidFill>
                  <a:srgbClr val="B52C75"/>
                </a:solidFill>
                <a:latin typeface="Nunito Sans"/>
              </a:rPr>
              <a:t>So…</a:t>
            </a:r>
          </a:p>
        </p:txBody>
      </p:sp>
      <p:sp>
        <p:nvSpPr>
          <p:cNvPr id="22" name="Rectangle 21"/>
          <p:cNvSpPr/>
          <p:nvPr/>
        </p:nvSpPr>
        <p:spPr>
          <a:xfrm>
            <a:off x="7287768" y="2331720"/>
            <a:ext cx="2212848" cy="4160520"/>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7768" y="2331720"/>
            <a:ext cx="2212848"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97496" y="2441448"/>
            <a:ext cx="1993392" cy="256032"/>
          </a:xfrm>
          <a:prstGeom prst="rect">
            <a:avLst/>
          </a:prstGeom>
          <a:noFill/>
        </p:spPr>
        <p:txBody>
          <a:bodyPr wrap="square">
            <a:spAutoFit/>
          </a:bodyPr>
          <a:lstStyle/>
          <a:p>
            <a:pPr algn="l"/>
            <a:r>
              <a:rPr sz="900" b="1" i="0">
                <a:solidFill>
                  <a:srgbClr val="94DCD4"/>
                </a:solidFill>
                <a:latin typeface="Nunito Sans"/>
              </a:rPr>
              <a:t>CHAPTER FOUR</a:t>
            </a:r>
          </a:p>
        </p:txBody>
      </p:sp>
      <p:sp>
        <p:nvSpPr>
          <p:cNvPr id="25" name="TextBox 24"/>
          <p:cNvSpPr txBox="1"/>
          <p:nvPr/>
        </p:nvSpPr>
        <p:spPr>
          <a:xfrm>
            <a:off x="7397496" y="2724912"/>
            <a:ext cx="1993392" cy="256032"/>
          </a:xfrm>
          <a:prstGeom prst="rect">
            <a:avLst/>
          </a:prstGeom>
          <a:noFill/>
        </p:spPr>
        <p:txBody>
          <a:bodyPr wrap="square">
            <a:spAutoFit/>
          </a:bodyPr>
          <a:lstStyle/>
          <a:p>
            <a:pPr algn="l"/>
            <a:r>
              <a:rPr sz="900" b="0" i="1">
                <a:solidFill>
                  <a:srgbClr val="AAAAAA"/>
                </a:solidFill>
                <a:latin typeface="Nunito Sans"/>
              </a:rPr>
              <a:t>the journey</a:t>
            </a:r>
          </a:p>
        </p:txBody>
      </p:sp>
      <p:sp>
        <p:nvSpPr>
          <p:cNvPr id="26" name="TextBox 25"/>
          <p:cNvSpPr txBox="1"/>
          <p:nvPr/>
        </p:nvSpPr>
        <p:spPr>
          <a:xfrm>
            <a:off x="7397496" y="3017520"/>
            <a:ext cx="1993392" cy="411480"/>
          </a:xfrm>
          <a:prstGeom prst="rect">
            <a:avLst/>
          </a:prstGeom>
          <a:noFill/>
        </p:spPr>
        <p:txBody>
          <a:bodyPr wrap="square">
            <a:spAutoFit/>
          </a:bodyPr>
          <a:lstStyle/>
          <a:p>
            <a:pPr algn="l"/>
            <a:r>
              <a:rPr sz="1600" b="1" i="0">
                <a:solidFill>
                  <a:srgbClr val="B52C75"/>
                </a:solidFill>
                <a:latin typeface="Nunito Sans"/>
              </a:rPr>
              <a:t>By…</a:t>
            </a:r>
          </a:p>
        </p:txBody>
      </p:sp>
      <p:sp>
        <p:nvSpPr>
          <p:cNvPr id="27" name="Rectangle 26"/>
          <p:cNvSpPr/>
          <p:nvPr/>
        </p:nvSpPr>
        <p:spPr>
          <a:xfrm>
            <a:off x="9610344" y="2331720"/>
            <a:ext cx="2212848" cy="4160520"/>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610344" y="2331720"/>
            <a:ext cx="2212848"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20072" y="2441448"/>
            <a:ext cx="1993392" cy="256032"/>
          </a:xfrm>
          <a:prstGeom prst="rect">
            <a:avLst/>
          </a:prstGeom>
          <a:noFill/>
        </p:spPr>
        <p:txBody>
          <a:bodyPr wrap="square">
            <a:spAutoFit/>
          </a:bodyPr>
          <a:lstStyle/>
          <a:p>
            <a:pPr algn="l"/>
            <a:r>
              <a:rPr sz="900" b="1" i="0">
                <a:solidFill>
                  <a:srgbClr val="94DCD4"/>
                </a:solidFill>
                <a:latin typeface="Nunito Sans"/>
              </a:rPr>
              <a:t>CHAPTER FIVE</a:t>
            </a:r>
          </a:p>
        </p:txBody>
      </p:sp>
      <p:sp>
        <p:nvSpPr>
          <p:cNvPr id="30" name="TextBox 29"/>
          <p:cNvSpPr txBox="1"/>
          <p:nvPr/>
        </p:nvSpPr>
        <p:spPr>
          <a:xfrm>
            <a:off x="9720072" y="2724912"/>
            <a:ext cx="1993392" cy="256032"/>
          </a:xfrm>
          <a:prstGeom prst="rect">
            <a:avLst/>
          </a:prstGeom>
          <a:noFill/>
        </p:spPr>
        <p:txBody>
          <a:bodyPr wrap="square">
            <a:spAutoFit/>
          </a:bodyPr>
          <a:lstStyle/>
          <a:p>
            <a:pPr algn="l"/>
            <a:r>
              <a:rPr sz="900" b="0" i="1">
                <a:solidFill>
                  <a:srgbClr val="AAAAAA"/>
                </a:solidFill>
                <a:latin typeface="Nunito Sans"/>
              </a:rPr>
              <a:t>desired destination</a:t>
            </a:r>
          </a:p>
        </p:txBody>
      </p:sp>
      <p:sp>
        <p:nvSpPr>
          <p:cNvPr id="31" name="TextBox 30"/>
          <p:cNvSpPr txBox="1"/>
          <p:nvPr/>
        </p:nvSpPr>
        <p:spPr>
          <a:xfrm>
            <a:off x="9720072" y="3017520"/>
            <a:ext cx="1993392" cy="411480"/>
          </a:xfrm>
          <a:prstGeom prst="rect">
            <a:avLst/>
          </a:prstGeom>
          <a:noFill/>
        </p:spPr>
        <p:txBody>
          <a:bodyPr wrap="square">
            <a:spAutoFit/>
          </a:bodyPr>
          <a:lstStyle/>
          <a:p>
            <a:pPr algn="l"/>
            <a:r>
              <a:rPr sz="1600" b="1" i="0">
                <a:solidFill>
                  <a:srgbClr val="B52C75"/>
                </a:solidFill>
                <a:latin typeface="Nunito Sans"/>
              </a:rPr>
              <a:t>We will…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636008" cy="5989320"/>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636008" y="0"/>
            <a:ext cx="18288" cy="5989320"/>
          </a:xfrm>
          <a:prstGeom prst="rect">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989320"/>
            <a:ext cx="12188952" cy="86868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37760" y="2011680"/>
            <a:ext cx="6858000" cy="1645920"/>
          </a:xfrm>
          <a:prstGeom prst="rect">
            <a:avLst/>
          </a:prstGeom>
          <a:noFill/>
        </p:spPr>
        <p:txBody>
          <a:bodyPr wrap="square">
            <a:spAutoFit/>
          </a:bodyPr>
          <a:lstStyle/>
          <a:p>
            <a:pPr algn="l"/>
            <a:r>
              <a:rPr sz="5200" b="1" i="0">
                <a:solidFill>
                  <a:srgbClr val="232C3A"/>
                </a:solidFill>
                <a:latin typeface="Nunito Sans"/>
              </a:rPr>
              <a:t>Bringing your
Story to Life</a:t>
            </a:r>
          </a:p>
        </p:txBody>
      </p:sp>
      <p:sp>
        <p:nvSpPr>
          <p:cNvPr id="6" name="Rectangle 5"/>
          <p:cNvSpPr/>
          <p:nvPr/>
        </p:nvSpPr>
        <p:spPr>
          <a:xfrm>
            <a:off x="4937760" y="3840480"/>
            <a:ext cx="502920" cy="91440"/>
          </a:xfrm>
          <a:prstGeom prst="rect">
            <a:avLst/>
          </a:prstGeom>
          <a:solidFill>
            <a:srgbClr val="B52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0" y="4041648"/>
            <a:ext cx="6766560" cy="411480"/>
          </a:xfrm>
          <a:prstGeom prst="rect">
            <a:avLst/>
          </a:prstGeom>
          <a:noFill/>
        </p:spPr>
        <p:txBody>
          <a:bodyPr wrap="square">
            <a:spAutoFit/>
          </a:bodyPr>
          <a:lstStyle/>
          <a:p>
            <a:pPr algn="l"/>
            <a:r>
              <a:rPr sz="1400" b="0" i="0">
                <a:solidFill>
                  <a:srgbClr val="3A4A55"/>
                </a:solidFill>
                <a:latin typeface="Nunito Sans"/>
              </a:rPr>
              <a:t>Begin to craft a story which illustrates the key theme of each chapter.</a:t>
            </a:r>
          </a:p>
        </p:txBody>
      </p:sp>
      <p:sp>
        <p:nvSpPr>
          <p:cNvPr id="8" name="TextBox 7"/>
          <p:cNvSpPr txBox="1"/>
          <p:nvPr/>
        </p:nvSpPr>
        <p:spPr>
          <a:xfrm>
            <a:off x="4937760" y="4526280"/>
            <a:ext cx="6766560" cy="365760"/>
          </a:xfrm>
          <a:prstGeom prst="rect">
            <a:avLst/>
          </a:prstGeom>
          <a:noFill/>
        </p:spPr>
        <p:txBody>
          <a:bodyPr wrap="square">
            <a:spAutoFit/>
          </a:bodyPr>
          <a:lstStyle/>
          <a:p>
            <a:pPr algn="l"/>
            <a:r>
              <a:rPr sz="1200" b="0" i="0">
                <a:solidFill>
                  <a:srgbClr val="AAAAAA"/>
                </a:solidFill>
                <a:latin typeface="Nunito Sans"/>
              </a:rPr>
              <a:t>In the workshop, you'll work in small groups to share these and get feedback.</a:t>
            </a:r>
          </a:p>
        </p:txBody>
      </p:sp>
      <p:sp>
        <p:nvSpPr>
          <p:cNvPr id="9" name="TextBox 8"/>
          <p:cNvSpPr txBox="1"/>
          <p:nvPr/>
        </p:nvSpPr>
        <p:spPr>
          <a:xfrm>
            <a:off x="0" y="6601968"/>
            <a:ext cx="11868912" cy="228600"/>
          </a:xfrm>
          <a:prstGeom prst="rect">
            <a:avLst/>
          </a:prstGeom>
          <a:noFill/>
        </p:spPr>
        <p:txBody>
          <a:bodyPr wrap="square">
            <a:spAutoFit/>
          </a:bodyPr>
          <a:lstStyle/>
          <a:p>
            <a:pPr algn="r"/>
            <a:r>
              <a:rPr sz="1100" b="0" i="1">
                <a:solidFill>
                  <a:srgbClr val="8899AA"/>
                </a:solidFill>
                <a:latin typeface="Nunito Sans"/>
              </a:rPr>
              <a:t>Storytelling Workbook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28600"/>
            <a:ext cx="11457432" cy="804672"/>
          </a:xfrm>
          <a:prstGeom prst="rect">
            <a:avLst/>
          </a:prstGeom>
          <a:noFill/>
        </p:spPr>
        <p:txBody>
          <a:bodyPr wrap="square">
            <a:spAutoFit/>
          </a:bodyPr>
          <a:lstStyle/>
          <a:p>
            <a:pPr algn="l"/>
            <a:r>
              <a:rPr sz="4400" b="1" i="0">
                <a:solidFill>
                  <a:srgbClr val="232C3A"/>
                </a:solidFill>
                <a:latin typeface="Nunito Sans"/>
              </a:rPr>
              <a:t>Bringing your Story to Life</a:t>
            </a:r>
          </a:p>
        </p:txBody>
      </p:sp>
      <p:sp>
        <p:nvSpPr>
          <p:cNvPr id="3" name="Rectangle 2"/>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5" name="TextBox 4"/>
          <p:cNvSpPr txBox="1"/>
          <p:nvPr/>
        </p:nvSpPr>
        <p:spPr>
          <a:xfrm>
            <a:off x="365760" y="1170432"/>
            <a:ext cx="3657600" cy="5212080"/>
          </a:xfrm>
          <a:prstGeom prst="rect">
            <a:avLst/>
          </a:prstGeom>
          <a:noFill/>
        </p:spPr>
        <p:txBody>
          <a:bodyPr wrap="square">
            <a:spAutoFit/>
          </a:bodyPr>
          <a:lstStyle/>
          <a:p>
            <a:pPr algn="l">
              <a:spcAft>
                <a:spcPts val="1000"/>
              </a:spcAft>
            </a:pPr>
            <a:r>
              <a:rPr sz="1300" b="0" i="0">
                <a:solidFill>
                  <a:srgbClr val="3A4A55"/>
                </a:solidFill>
                <a:latin typeface="Nunito Sans"/>
              </a:rPr>
              <a:t>You have built your five-chapter narrative. Now it is time to bring it to life with illustrative stories — real examples that make your narrative vivid, credible and memorable.</a:t>
            </a:r>
          </a:p>
          <a:p>
            <a:pPr algn="l">
              <a:spcAft>
                <a:spcPts val="1000"/>
              </a:spcAft>
            </a:pPr>
            <a:r>
              <a:rPr sz="1300" b="0" i="0">
                <a:solidFill>
                  <a:srgbClr val="3A4A55"/>
                </a:solidFill>
                <a:latin typeface="Nunito Sans"/>
              </a:rPr>
              <a:t>For each chapter, you will identify a story from your own experience or from your organisation that captures the essence of that chapter’s theme.</a:t>
            </a:r>
          </a:p>
          <a:p>
            <a:pPr algn="l"/>
            <a:r>
              <a:rPr sz="1300" b="0" i="0">
                <a:solidFill>
                  <a:srgbClr val="3A4A55"/>
                </a:solidFill>
                <a:latin typeface="Nunito Sans"/>
              </a:rPr>
              <a:t>Stories are the difference between a narrative that is intellectually understood and one that is truly felt.</a:t>
            </a:r>
          </a:p>
        </p:txBody>
      </p:sp>
      <p:sp>
        <p:nvSpPr>
          <p:cNvPr id="6" name="TextBox 5"/>
          <p:cNvSpPr txBox="1"/>
          <p:nvPr/>
        </p:nvSpPr>
        <p:spPr>
          <a:xfrm>
            <a:off x="4224528" y="1170432"/>
            <a:ext cx="3657600" cy="5212080"/>
          </a:xfrm>
          <a:prstGeom prst="rect">
            <a:avLst/>
          </a:prstGeom>
          <a:noFill/>
        </p:spPr>
        <p:txBody>
          <a:bodyPr wrap="square">
            <a:spAutoFit/>
          </a:bodyPr>
          <a:lstStyle/>
          <a:p>
            <a:pPr algn="l">
              <a:spcAft>
                <a:spcPts val="800"/>
              </a:spcAft>
            </a:pPr>
            <a:r>
              <a:rPr sz="1600" b="1" i="0">
                <a:solidFill>
                  <a:srgbClr val="232C3A"/>
                </a:solidFill>
                <a:latin typeface="Nunito Sans"/>
              </a:rPr>
              <a:t>Illustrative Stories</a:t>
            </a:r>
          </a:p>
          <a:p>
            <a:pPr algn="l">
              <a:spcAft>
                <a:spcPts val="600"/>
              </a:spcAft>
            </a:pPr>
            <a:r>
              <a:rPr sz="1300" b="0" i="0">
                <a:solidFill>
                  <a:srgbClr val="3A4A55"/>
                </a:solidFill>
                <a:latin typeface="Nunito Sans"/>
              </a:rPr>
              <a:t>A well-chosen illustrative story can:</a:t>
            </a:r>
          </a:p>
          <a:p>
            <a:pPr algn="l">
              <a:spcAft>
                <a:spcPts val="600"/>
              </a:spcAft>
            </a:pPr>
            <a:r>
              <a:rPr sz="1300" b="0" i="0">
                <a:solidFill>
                  <a:srgbClr val="3A4A55"/>
                </a:solidFill>
                <a:latin typeface="Nunito Sans"/>
              </a:rPr>
              <a:t>•  Make abstract ideas concrete and tangible</a:t>
            </a:r>
          </a:p>
          <a:p>
            <a:pPr algn="l">
              <a:spcAft>
                <a:spcPts val="600"/>
              </a:spcAft>
            </a:pPr>
            <a:r>
              <a:rPr sz="1300" b="0" i="0">
                <a:solidFill>
                  <a:srgbClr val="3A4A55"/>
                </a:solidFill>
                <a:latin typeface="Nunito Sans"/>
              </a:rPr>
              <a:t>•  Create an emotional connection with your audience</a:t>
            </a:r>
          </a:p>
          <a:p>
            <a:pPr algn="l">
              <a:spcAft>
                <a:spcPts val="1000"/>
              </a:spcAft>
            </a:pPr>
            <a:r>
              <a:rPr sz="1300" b="0" i="0">
                <a:solidFill>
                  <a:srgbClr val="3A4A55"/>
                </a:solidFill>
                <a:latin typeface="Nunito Sans"/>
              </a:rPr>
              <a:t>•  Make your narrative memorable and repeatable</a:t>
            </a:r>
          </a:p>
          <a:p>
            <a:pPr algn="l"/>
            <a:r>
              <a:rPr sz="1300" b="0" i="0">
                <a:solidFill>
                  <a:srgbClr val="3A4A55"/>
                </a:solidFill>
                <a:latin typeface="Nunito Sans"/>
              </a:rPr>
              <a:t>The best stories are specific, human, and honest. They do not need to be dramatic — they need to be true to the theme.</a:t>
            </a:r>
          </a:p>
        </p:txBody>
      </p:sp>
      <p:sp>
        <p:nvSpPr>
          <p:cNvPr id="7" name="TextBox 6"/>
          <p:cNvSpPr txBox="1"/>
          <p:nvPr/>
        </p:nvSpPr>
        <p:spPr>
          <a:xfrm>
            <a:off x="8083296" y="1170432"/>
            <a:ext cx="3657600" cy="5212080"/>
          </a:xfrm>
          <a:prstGeom prst="rect">
            <a:avLst/>
          </a:prstGeom>
          <a:noFill/>
        </p:spPr>
        <p:txBody>
          <a:bodyPr wrap="square">
            <a:spAutoFit/>
          </a:bodyPr>
          <a:lstStyle/>
          <a:p>
            <a:pPr algn="l">
              <a:spcAft>
                <a:spcPts val="1000"/>
              </a:spcAft>
            </a:pPr>
            <a:r>
              <a:rPr sz="1300" b="0" i="0">
                <a:solidFill>
                  <a:srgbClr val="3A4A55"/>
                </a:solidFill>
                <a:latin typeface="Nunito Sans"/>
              </a:rPr>
              <a:t>Stories can come from anywhere — a customer interaction, a team achievement, a moment of failure and recovery, or an example from another organisation or industry.</a:t>
            </a:r>
          </a:p>
          <a:p>
            <a:pPr algn="l">
              <a:spcAft>
                <a:spcPts val="1000"/>
              </a:spcAft>
            </a:pPr>
            <a:r>
              <a:rPr sz="1300" b="0" i="0">
                <a:solidFill>
                  <a:srgbClr val="3A4A55"/>
                </a:solidFill>
                <a:latin typeface="Nunito Sans"/>
              </a:rPr>
              <a:t>The key is to choose stories that resonate with your audience and that authentically illustrate the theme of each chapter.</a:t>
            </a:r>
          </a:p>
          <a:p>
            <a:pPr algn="l"/>
            <a:r>
              <a:rPr sz="1300" b="0" i="0">
                <a:solidFill>
                  <a:srgbClr val="3A4A55"/>
                </a:solidFill>
                <a:latin typeface="Nunito Sans"/>
              </a:rPr>
              <a:t>The structure below may help you to identify the right kind of story for each chapter.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28600"/>
            <a:ext cx="11457432" cy="804672"/>
          </a:xfrm>
          <a:prstGeom prst="rect">
            <a:avLst/>
          </a:prstGeom>
          <a:noFill/>
        </p:spPr>
        <p:txBody>
          <a:bodyPr wrap="square">
            <a:spAutoFit/>
          </a:bodyPr>
          <a:lstStyle/>
          <a:p>
            <a:pPr algn="l"/>
            <a:r>
              <a:rPr sz="4400" b="1" i="0">
                <a:solidFill>
                  <a:srgbClr val="232C3A"/>
                </a:solidFill>
                <a:latin typeface="Nunito Sans"/>
              </a:rPr>
              <a:t>Bringing your Story to Life</a:t>
            </a:r>
          </a:p>
        </p:txBody>
      </p:sp>
      <p:sp>
        <p:nvSpPr>
          <p:cNvPr id="3" name="Rectangle 2"/>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5" name="TextBox 4"/>
          <p:cNvSpPr txBox="1"/>
          <p:nvPr/>
        </p:nvSpPr>
        <p:spPr>
          <a:xfrm>
            <a:off x="365760" y="1170432"/>
            <a:ext cx="11457432" cy="548640"/>
          </a:xfrm>
          <a:prstGeom prst="rect">
            <a:avLst/>
          </a:prstGeom>
          <a:noFill/>
        </p:spPr>
        <p:txBody>
          <a:bodyPr wrap="square">
            <a:spAutoFit/>
          </a:bodyPr>
          <a:lstStyle/>
          <a:p>
            <a:pPr algn="l"/>
            <a:r>
              <a:rPr sz="1300" b="0" i="0">
                <a:solidFill>
                  <a:srgbClr val="3A4A55"/>
                </a:solidFill>
                <a:latin typeface="Nunito Sans"/>
              </a:rPr>
              <a:t>Each chapter of your narrative is designed to evoke a specific emotion. When choosing your illustrative stories, keep these target emotions in mind — they are the emotional engine of your narrative.</a:t>
            </a:r>
          </a:p>
        </p:txBody>
      </p:sp>
      <p:sp>
        <p:nvSpPr>
          <p:cNvPr id="6" name="Rectangle 5"/>
          <p:cNvSpPr/>
          <p:nvPr/>
        </p:nvSpPr>
        <p:spPr>
          <a:xfrm>
            <a:off x="320040" y="2148840"/>
            <a:ext cx="2212848" cy="36576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64208" y="1874520"/>
            <a:ext cx="1280160" cy="128016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331720"/>
            <a:ext cx="1938528" cy="256032"/>
          </a:xfrm>
          <a:prstGeom prst="rect">
            <a:avLst/>
          </a:prstGeom>
          <a:noFill/>
        </p:spPr>
        <p:txBody>
          <a:bodyPr wrap="square">
            <a:spAutoFit/>
          </a:bodyPr>
          <a:lstStyle/>
          <a:p>
            <a:pPr algn="l"/>
            <a:r>
              <a:rPr sz="900" b="1" i="0">
                <a:solidFill>
                  <a:srgbClr val="94DCD4"/>
                </a:solidFill>
                <a:latin typeface="Nunito Sans"/>
              </a:rPr>
              <a:t>CHAPTER ONE</a:t>
            </a:r>
          </a:p>
        </p:txBody>
      </p:sp>
      <p:sp>
        <p:nvSpPr>
          <p:cNvPr id="9" name="TextBox 8"/>
          <p:cNvSpPr txBox="1"/>
          <p:nvPr/>
        </p:nvSpPr>
        <p:spPr>
          <a:xfrm>
            <a:off x="457200" y="2651760"/>
            <a:ext cx="1938528" cy="822960"/>
          </a:xfrm>
          <a:prstGeom prst="rect">
            <a:avLst/>
          </a:prstGeom>
          <a:noFill/>
        </p:spPr>
        <p:txBody>
          <a:bodyPr wrap="square">
            <a:spAutoFit/>
          </a:bodyPr>
          <a:lstStyle/>
          <a:p>
            <a:pPr algn="l"/>
            <a:r>
              <a:rPr sz="2000" b="1" i="0">
                <a:solidFill>
                  <a:srgbClr val="FFFFFF"/>
                </a:solidFill>
                <a:latin typeface="Nunito Sans"/>
              </a:rPr>
              <a:t>Pride and
belonging</a:t>
            </a:r>
          </a:p>
        </p:txBody>
      </p:sp>
      <p:sp>
        <p:nvSpPr>
          <p:cNvPr id="10" name="Oval 9"/>
          <p:cNvSpPr/>
          <p:nvPr/>
        </p:nvSpPr>
        <p:spPr>
          <a:xfrm>
            <a:off x="457200"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32688"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08176"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883664"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42616" y="2148840"/>
            <a:ext cx="2212848" cy="36576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986784" y="1874520"/>
            <a:ext cx="1280160" cy="128016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79776" y="2331720"/>
            <a:ext cx="1938528" cy="256032"/>
          </a:xfrm>
          <a:prstGeom prst="rect">
            <a:avLst/>
          </a:prstGeom>
          <a:noFill/>
        </p:spPr>
        <p:txBody>
          <a:bodyPr wrap="square">
            <a:spAutoFit/>
          </a:bodyPr>
          <a:lstStyle/>
          <a:p>
            <a:pPr algn="l"/>
            <a:r>
              <a:rPr sz="900" b="1" i="0">
                <a:solidFill>
                  <a:srgbClr val="94DCD4"/>
                </a:solidFill>
                <a:latin typeface="Nunito Sans"/>
              </a:rPr>
              <a:t>CHAPTER TWO</a:t>
            </a:r>
          </a:p>
        </p:txBody>
      </p:sp>
      <p:sp>
        <p:nvSpPr>
          <p:cNvPr id="17" name="TextBox 16"/>
          <p:cNvSpPr txBox="1"/>
          <p:nvPr/>
        </p:nvSpPr>
        <p:spPr>
          <a:xfrm>
            <a:off x="2779776" y="2651760"/>
            <a:ext cx="1938528" cy="822960"/>
          </a:xfrm>
          <a:prstGeom prst="rect">
            <a:avLst/>
          </a:prstGeom>
          <a:noFill/>
        </p:spPr>
        <p:txBody>
          <a:bodyPr wrap="square">
            <a:spAutoFit/>
          </a:bodyPr>
          <a:lstStyle/>
          <a:p>
            <a:pPr algn="l"/>
            <a:r>
              <a:rPr sz="2000" b="1" i="0">
                <a:solidFill>
                  <a:srgbClr val="FFFFFF"/>
                </a:solidFill>
                <a:latin typeface="Nunito Sans"/>
              </a:rPr>
              <a:t>Urgency</a:t>
            </a:r>
          </a:p>
        </p:txBody>
      </p:sp>
      <p:sp>
        <p:nvSpPr>
          <p:cNvPr id="18" name="Oval 17"/>
          <p:cNvSpPr/>
          <p:nvPr/>
        </p:nvSpPr>
        <p:spPr>
          <a:xfrm>
            <a:off x="2779776"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255264"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730752"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206240"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65192" y="2148840"/>
            <a:ext cx="2212848" cy="36576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09360" y="1874520"/>
            <a:ext cx="1280160" cy="128016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02352" y="2331720"/>
            <a:ext cx="1938528" cy="256032"/>
          </a:xfrm>
          <a:prstGeom prst="rect">
            <a:avLst/>
          </a:prstGeom>
          <a:noFill/>
        </p:spPr>
        <p:txBody>
          <a:bodyPr wrap="square">
            <a:spAutoFit/>
          </a:bodyPr>
          <a:lstStyle/>
          <a:p>
            <a:pPr algn="l"/>
            <a:r>
              <a:rPr sz="900" b="1" i="0">
                <a:solidFill>
                  <a:srgbClr val="94DCD4"/>
                </a:solidFill>
                <a:latin typeface="Nunito Sans"/>
              </a:rPr>
              <a:t>CHAPTER THREE</a:t>
            </a:r>
          </a:p>
        </p:txBody>
      </p:sp>
      <p:sp>
        <p:nvSpPr>
          <p:cNvPr id="25" name="TextBox 24"/>
          <p:cNvSpPr txBox="1"/>
          <p:nvPr/>
        </p:nvSpPr>
        <p:spPr>
          <a:xfrm>
            <a:off x="5102352" y="2651760"/>
            <a:ext cx="1938528" cy="822960"/>
          </a:xfrm>
          <a:prstGeom prst="rect">
            <a:avLst/>
          </a:prstGeom>
          <a:noFill/>
        </p:spPr>
        <p:txBody>
          <a:bodyPr wrap="square">
            <a:spAutoFit/>
          </a:bodyPr>
          <a:lstStyle/>
          <a:p>
            <a:pPr algn="l"/>
            <a:r>
              <a:rPr sz="2000" b="1" i="0">
                <a:solidFill>
                  <a:srgbClr val="FFFFFF"/>
                </a:solidFill>
                <a:latin typeface="Nunito Sans"/>
              </a:rPr>
              <a:t>Inspiration</a:t>
            </a:r>
          </a:p>
        </p:txBody>
      </p:sp>
      <p:sp>
        <p:nvSpPr>
          <p:cNvPr id="26" name="Oval 25"/>
          <p:cNvSpPr/>
          <p:nvPr/>
        </p:nvSpPr>
        <p:spPr>
          <a:xfrm>
            <a:off x="5102352"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577840"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053328"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528816"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287768" y="2148840"/>
            <a:ext cx="2212848" cy="36576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631936" y="1874520"/>
            <a:ext cx="1280160" cy="128016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24928" y="2331720"/>
            <a:ext cx="1938528" cy="256032"/>
          </a:xfrm>
          <a:prstGeom prst="rect">
            <a:avLst/>
          </a:prstGeom>
          <a:noFill/>
        </p:spPr>
        <p:txBody>
          <a:bodyPr wrap="square">
            <a:spAutoFit/>
          </a:bodyPr>
          <a:lstStyle/>
          <a:p>
            <a:pPr algn="l"/>
            <a:r>
              <a:rPr sz="900" b="1" i="0">
                <a:solidFill>
                  <a:srgbClr val="94DCD4"/>
                </a:solidFill>
                <a:latin typeface="Nunito Sans"/>
              </a:rPr>
              <a:t>CHAPTER FOUR</a:t>
            </a:r>
          </a:p>
        </p:txBody>
      </p:sp>
      <p:sp>
        <p:nvSpPr>
          <p:cNvPr id="33" name="TextBox 32"/>
          <p:cNvSpPr txBox="1"/>
          <p:nvPr/>
        </p:nvSpPr>
        <p:spPr>
          <a:xfrm>
            <a:off x="7424928" y="2651760"/>
            <a:ext cx="1938528" cy="822960"/>
          </a:xfrm>
          <a:prstGeom prst="rect">
            <a:avLst/>
          </a:prstGeom>
          <a:noFill/>
        </p:spPr>
        <p:txBody>
          <a:bodyPr wrap="square">
            <a:spAutoFit/>
          </a:bodyPr>
          <a:lstStyle/>
          <a:p>
            <a:pPr algn="l"/>
            <a:r>
              <a:rPr sz="2000" b="1" i="0">
                <a:solidFill>
                  <a:srgbClr val="FFFFFF"/>
                </a:solidFill>
                <a:latin typeface="Nunito Sans"/>
              </a:rPr>
              <a:t>Belief and
clarity</a:t>
            </a:r>
          </a:p>
        </p:txBody>
      </p:sp>
      <p:sp>
        <p:nvSpPr>
          <p:cNvPr id="34" name="Oval 33"/>
          <p:cNvSpPr/>
          <p:nvPr/>
        </p:nvSpPr>
        <p:spPr>
          <a:xfrm>
            <a:off x="7424928"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900416"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375904"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851392"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610344" y="2148840"/>
            <a:ext cx="2212848" cy="36576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954512" y="1874520"/>
            <a:ext cx="1280160" cy="128016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47504" y="2331720"/>
            <a:ext cx="1938528" cy="256032"/>
          </a:xfrm>
          <a:prstGeom prst="rect">
            <a:avLst/>
          </a:prstGeom>
          <a:noFill/>
        </p:spPr>
        <p:txBody>
          <a:bodyPr wrap="square">
            <a:spAutoFit/>
          </a:bodyPr>
          <a:lstStyle/>
          <a:p>
            <a:pPr algn="l"/>
            <a:r>
              <a:rPr sz="900" b="1" i="0">
                <a:solidFill>
                  <a:srgbClr val="94DCD4"/>
                </a:solidFill>
                <a:latin typeface="Nunito Sans"/>
              </a:rPr>
              <a:t>CHAPTER FIVE</a:t>
            </a:r>
          </a:p>
        </p:txBody>
      </p:sp>
      <p:sp>
        <p:nvSpPr>
          <p:cNvPr id="41" name="TextBox 40"/>
          <p:cNvSpPr txBox="1"/>
          <p:nvPr/>
        </p:nvSpPr>
        <p:spPr>
          <a:xfrm>
            <a:off x="9747504" y="2651760"/>
            <a:ext cx="1938528" cy="822960"/>
          </a:xfrm>
          <a:prstGeom prst="rect">
            <a:avLst/>
          </a:prstGeom>
          <a:noFill/>
        </p:spPr>
        <p:txBody>
          <a:bodyPr wrap="square">
            <a:spAutoFit/>
          </a:bodyPr>
          <a:lstStyle/>
          <a:p>
            <a:pPr algn="l"/>
            <a:r>
              <a:rPr sz="2000" b="1" i="0">
                <a:solidFill>
                  <a:srgbClr val="FFFFFF"/>
                </a:solidFill>
                <a:latin typeface="Nunito Sans"/>
              </a:rPr>
              <a:t>Hope</a:t>
            </a:r>
          </a:p>
        </p:txBody>
      </p:sp>
      <p:sp>
        <p:nvSpPr>
          <p:cNvPr id="42" name="Oval 41"/>
          <p:cNvSpPr/>
          <p:nvPr/>
        </p:nvSpPr>
        <p:spPr>
          <a:xfrm>
            <a:off x="9747504"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22992"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698480"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173968" y="5166360"/>
            <a:ext cx="347472" cy="347472"/>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9048" cy="68580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0" y="-548640"/>
            <a:ext cx="2194560" cy="219456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5486400" cy="228600"/>
          </a:xfrm>
          <a:prstGeom prst="rect">
            <a:avLst/>
          </a:prstGeom>
          <a:noFill/>
        </p:spPr>
        <p:txBody>
          <a:bodyPr wrap="square">
            <a:spAutoFit/>
          </a:bodyPr>
          <a:lstStyle/>
          <a:p>
            <a:pPr algn="l"/>
            <a:r>
              <a:rPr sz="900" b="0" i="0">
                <a:solidFill>
                  <a:srgbClr val="AAAAAA"/>
                </a:solidFill>
                <a:latin typeface="Nunito Sans"/>
              </a:rPr>
              <a:t>STORY</a:t>
            </a:r>
          </a:p>
        </p:txBody>
      </p:sp>
      <p:sp>
        <p:nvSpPr>
          <p:cNvPr id="5" name="TextBox 4"/>
          <p:cNvSpPr txBox="1"/>
          <p:nvPr/>
        </p:nvSpPr>
        <p:spPr>
          <a:xfrm>
            <a:off x="365760" y="502920"/>
            <a:ext cx="5486400" cy="256032"/>
          </a:xfrm>
          <a:prstGeom prst="rect">
            <a:avLst/>
          </a:prstGeom>
          <a:noFill/>
        </p:spPr>
        <p:txBody>
          <a:bodyPr wrap="square">
            <a:spAutoFit/>
          </a:bodyPr>
          <a:lstStyle/>
          <a:p>
            <a:pPr algn="l"/>
            <a:r>
              <a:rPr sz="1000" b="1" i="0">
                <a:solidFill>
                  <a:srgbClr val="B52C75"/>
                </a:solidFill>
                <a:latin typeface="Nunito Sans"/>
              </a:rPr>
              <a:t>CHAPTER ONE</a:t>
            </a:r>
          </a:p>
        </p:txBody>
      </p:sp>
      <p:sp>
        <p:nvSpPr>
          <p:cNvPr id="6" name="TextBox 5"/>
          <p:cNvSpPr txBox="1"/>
          <p:nvPr/>
        </p:nvSpPr>
        <p:spPr>
          <a:xfrm>
            <a:off x="365760" y="777240"/>
            <a:ext cx="5486400" cy="822960"/>
          </a:xfrm>
          <a:prstGeom prst="rect">
            <a:avLst/>
          </a:prstGeom>
          <a:noFill/>
        </p:spPr>
        <p:txBody>
          <a:bodyPr wrap="square">
            <a:spAutoFit/>
          </a:bodyPr>
          <a:lstStyle/>
          <a:p>
            <a:pPr algn="l"/>
            <a:r>
              <a:rPr sz="3000" b="1" i="0">
                <a:solidFill>
                  <a:srgbClr val="FFFFFF"/>
                </a:solidFill>
                <a:latin typeface="Nunito Sans"/>
              </a:rPr>
              <a:t>Roots &amp;
Identity</a:t>
            </a:r>
          </a:p>
        </p:txBody>
      </p:sp>
      <p:sp>
        <p:nvSpPr>
          <p:cNvPr id="7" name="Rectangle 6"/>
          <p:cNvSpPr/>
          <p:nvPr/>
        </p:nvSpPr>
        <p:spPr>
          <a:xfrm>
            <a:off x="365760" y="1664208"/>
            <a:ext cx="502920" cy="54864"/>
          </a:xfrm>
          <a:prstGeom prst="rect">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828800"/>
            <a:ext cx="5486400" cy="4389120"/>
          </a:xfrm>
          <a:prstGeom prst="rect">
            <a:avLst/>
          </a:prstGeom>
          <a:noFill/>
        </p:spPr>
        <p:txBody>
          <a:bodyPr wrap="square">
            <a:spAutoFit/>
          </a:bodyPr>
          <a:lstStyle/>
          <a:p>
            <a:pPr algn="l"/>
            <a:r>
              <a:rPr sz="1200" b="0" i="0">
                <a:solidFill>
                  <a:srgbClr val="BBCCDD"/>
                </a:solidFill>
                <a:latin typeface="Nunito Sans"/>
              </a:rPr>
              <a:t>Andrew Carnegie arrived in Pittsburgh from Scotland at the age of 13 with nothing. He educated himself at night school. He built the world’s largest steel company. And in 1900, when he was the richest man on earth, he gave $1 million back to the city — not to a hospital, not to a monument — but to a school, built for the sons and daughters of his own mill workers. He called it the Carnegie Technical Schools. Its motto: “My heart is in the work.”</a:t>
            </a:r>
          </a:p>
          <a:p>
            <a:pPr algn="l"/>
            <a:r>
              <a:rPr sz="600" b="0" i="0">
                <a:solidFill>
                  <a:srgbClr val="BBCCDD"/>
                </a:solidFill>
                <a:latin typeface="Nunito Sans"/>
              </a:rPr>
              <a:t/>
            </a:r>
          </a:p>
          <a:p>
            <a:pPr algn="l"/>
            <a:r>
              <a:rPr sz="1200" b="0" i="0">
                <a:solidFill>
                  <a:srgbClr val="BBCCDD"/>
                </a:solidFill>
                <a:latin typeface="Nunito Sans"/>
              </a:rPr>
              <a:t>In 1979, while the mills along the Monongahela were closing one by one, Carnegie Mellon University quietly created something nobody noticed — the world’s first robotics programme, funded by a $3 million grant from Westinghouse.</a:t>
            </a:r>
          </a:p>
          <a:p>
            <a:pPr algn="l"/>
            <a:r>
              <a:rPr sz="600" b="0" i="0">
                <a:solidFill>
                  <a:srgbClr val="BBCCDD"/>
                </a:solidFill>
                <a:latin typeface="Nunito Sans"/>
              </a:rPr>
              <a:t/>
            </a:r>
          </a:p>
          <a:p>
            <a:pPr algn="l"/>
            <a:r>
              <a:rPr sz="1200" b="0" i="0">
                <a:solidFill>
                  <a:srgbClr val="BBCCDD"/>
                </a:solidFill>
                <a:latin typeface="Nunito Sans"/>
              </a:rPr>
              <a:t>In 1997, the last steel mill in Pittsburgh closed. Today its building — same steel frame, same riverside — houses Carnegie Mellon’s robotics and AI research campus. The grandchildren of steelworkers write code where their grandparents poured iron. The motto hasn’t changed.</a:t>
            </a:r>
          </a:p>
        </p:txBody>
      </p:sp>
      <p:sp>
        <p:nvSpPr>
          <p:cNvPr id="9" name="TextBox 8"/>
          <p:cNvSpPr txBox="1"/>
          <p:nvPr/>
        </p:nvSpPr>
        <p:spPr>
          <a:xfrm>
            <a:off x="365760" y="6492240"/>
            <a:ext cx="5486400" cy="256032"/>
          </a:xfrm>
          <a:prstGeom prst="rect">
            <a:avLst/>
          </a:prstGeom>
          <a:noFill/>
        </p:spPr>
        <p:txBody>
          <a:bodyPr wrap="square">
            <a:spAutoFit/>
          </a:bodyPr>
          <a:lstStyle/>
          <a:p>
            <a:pPr algn="l"/>
            <a:r>
              <a:rPr sz="1000" b="0" i="1">
                <a:solidFill>
                  <a:srgbClr val="AAAAAA"/>
                </a:solidFill>
                <a:latin typeface="Nunito Sans"/>
              </a:rPr>
              <a:t>Pittsburgh, Pennsylvania</a:t>
            </a:r>
          </a:p>
        </p:txBody>
      </p:sp>
      <p:sp>
        <p:nvSpPr>
          <p:cNvPr id="10" name="Rectangle 9"/>
          <p:cNvSpPr/>
          <p:nvPr/>
        </p:nvSpPr>
        <p:spPr>
          <a:xfrm>
            <a:off x="6099048" y="0"/>
            <a:ext cx="18288" cy="6858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237744"/>
            <a:ext cx="5486400" cy="256032"/>
          </a:xfrm>
          <a:prstGeom prst="rect">
            <a:avLst/>
          </a:prstGeom>
          <a:noFill/>
        </p:spPr>
        <p:txBody>
          <a:bodyPr wrap="square">
            <a:spAutoFit/>
          </a:bodyPr>
          <a:lstStyle/>
          <a:p>
            <a:pPr algn="l"/>
            <a:r>
              <a:rPr sz="1000" b="1" i="0">
                <a:solidFill>
                  <a:srgbClr val="B52C75"/>
                </a:solidFill>
                <a:latin typeface="Nunito Sans"/>
              </a:rPr>
              <a:t>CHAPTER ONE</a:t>
            </a:r>
          </a:p>
        </p:txBody>
      </p:sp>
      <p:sp>
        <p:nvSpPr>
          <p:cNvPr id="12" name="TextBox 11"/>
          <p:cNvSpPr txBox="1"/>
          <p:nvPr/>
        </p:nvSpPr>
        <p:spPr>
          <a:xfrm>
            <a:off x="6291072" y="493776"/>
            <a:ext cx="5486400" cy="548640"/>
          </a:xfrm>
          <a:prstGeom prst="rect">
            <a:avLst/>
          </a:prstGeom>
          <a:noFill/>
        </p:spPr>
        <p:txBody>
          <a:bodyPr wrap="square">
            <a:spAutoFit/>
          </a:bodyPr>
          <a:lstStyle/>
          <a:p>
            <a:pPr algn="l"/>
            <a:r>
              <a:rPr sz="3800" b="1" i="0">
                <a:solidFill>
                  <a:srgbClr val="232C3A"/>
                </a:solidFill>
                <a:latin typeface="Nunito Sans"/>
              </a:rPr>
              <a:t>Your Story</a:t>
            </a:r>
          </a:p>
        </p:txBody>
      </p:sp>
      <p:sp>
        <p:nvSpPr>
          <p:cNvPr id="13" name="Rectangle 12"/>
          <p:cNvSpPr/>
          <p:nvPr/>
        </p:nvSpPr>
        <p:spPr>
          <a:xfrm>
            <a:off x="6117336" y="1042415"/>
            <a:ext cx="6053328"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6208" y="1152144"/>
            <a:ext cx="5742432" cy="5449824"/>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152144"/>
            <a:ext cx="5742432"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8" y="1261872"/>
            <a:ext cx="5468112" cy="256032"/>
          </a:xfrm>
          <a:prstGeom prst="rect">
            <a:avLst/>
          </a:prstGeom>
          <a:noFill/>
        </p:spPr>
        <p:txBody>
          <a:bodyPr wrap="square">
            <a:spAutoFit/>
          </a:bodyPr>
          <a:lstStyle/>
          <a:p>
            <a:pPr algn="l"/>
            <a:r>
              <a:rPr sz="850" b="0" i="0">
                <a:solidFill>
                  <a:srgbClr val="778899"/>
                </a:solidFill>
                <a:latin typeface="Nunito Sans"/>
              </a:rPr>
              <a:t>WRITE YOUR OWN STORY HERE</a:t>
            </a:r>
          </a:p>
        </p:txBody>
      </p:sp>
      <p:sp>
        <p:nvSpPr>
          <p:cNvPr id="17" name="TextBox 16"/>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9048" cy="68580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0" y="-548640"/>
            <a:ext cx="2194560" cy="219456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5486400" cy="228600"/>
          </a:xfrm>
          <a:prstGeom prst="rect">
            <a:avLst/>
          </a:prstGeom>
          <a:noFill/>
        </p:spPr>
        <p:txBody>
          <a:bodyPr wrap="square">
            <a:spAutoFit/>
          </a:bodyPr>
          <a:lstStyle/>
          <a:p>
            <a:pPr algn="l"/>
            <a:r>
              <a:rPr sz="900" b="0" i="0">
                <a:solidFill>
                  <a:srgbClr val="AAAAAA"/>
                </a:solidFill>
                <a:latin typeface="Nunito Sans"/>
              </a:rPr>
              <a:t>STORY</a:t>
            </a:r>
          </a:p>
        </p:txBody>
      </p:sp>
      <p:sp>
        <p:nvSpPr>
          <p:cNvPr id="5" name="TextBox 4"/>
          <p:cNvSpPr txBox="1"/>
          <p:nvPr/>
        </p:nvSpPr>
        <p:spPr>
          <a:xfrm>
            <a:off x="365760" y="502920"/>
            <a:ext cx="5486400" cy="256032"/>
          </a:xfrm>
          <a:prstGeom prst="rect">
            <a:avLst/>
          </a:prstGeom>
          <a:noFill/>
        </p:spPr>
        <p:txBody>
          <a:bodyPr wrap="square">
            <a:spAutoFit/>
          </a:bodyPr>
          <a:lstStyle/>
          <a:p>
            <a:pPr algn="l"/>
            <a:r>
              <a:rPr sz="1000" b="1" i="0">
                <a:solidFill>
                  <a:srgbClr val="B52C75"/>
                </a:solidFill>
                <a:latin typeface="Nunito Sans"/>
              </a:rPr>
              <a:t>CHAPTER TWO</a:t>
            </a:r>
          </a:p>
        </p:txBody>
      </p:sp>
      <p:sp>
        <p:nvSpPr>
          <p:cNvPr id="6" name="TextBox 5"/>
          <p:cNvSpPr txBox="1"/>
          <p:nvPr/>
        </p:nvSpPr>
        <p:spPr>
          <a:xfrm>
            <a:off x="365760" y="777240"/>
            <a:ext cx="5486400" cy="822960"/>
          </a:xfrm>
          <a:prstGeom prst="rect">
            <a:avLst/>
          </a:prstGeom>
          <a:noFill/>
        </p:spPr>
        <p:txBody>
          <a:bodyPr wrap="square">
            <a:spAutoFit/>
          </a:bodyPr>
          <a:lstStyle/>
          <a:p>
            <a:pPr algn="l"/>
            <a:r>
              <a:rPr sz="3000" b="1" i="0">
                <a:solidFill>
                  <a:srgbClr val="FFFFFF"/>
                </a:solidFill>
                <a:latin typeface="Nunito Sans"/>
              </a:rPr>
              <a:t>Fault Lines</a:t>
            </a:r>
          </a:p>
        </p:txBody>
      </p:sp>
      <p:sp>
        <p:nvSpPr>
          <p:cNvPr id="7" name="Rectangle 6"/>
          <p:cNvSpPr/>
          <p:nvPr/>
        </p:nvSpPr>
        <p:spPr>
          <a:xfrm>
            <a:off x="365760" y="1664208"/>
            <a:ext cx="502920" cy="54864"/>
          </a:xfrm>
          <a:prstGeom prst="rect">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828800"/>
            <a:ext cx="5486400" cy="4389120"/>
          </a:xfrm>
          <a:prstGeom prst="rect">
            <a:avLst/>
          </a:prstGeom>
          <a:noFill/>
        </p:spPr>
        <p:txBody>
          <a:bodyPr wrap="square">
            <a:spAutoFit/>
          </a:bodyPr>
          <a:lstStyle/>
          <a:p>
            <a:pPr algn="l"/>
            <a:r>
              <a:rPr sz="1200" b="0" i="0">
                <a:solidFill>
                  <a:srgbClr val="BBCCDD"/>
                </a:solidFill>
                <a:latin typeface="Nunito Sans"/>
              </a:rPr>
              <a:t>In August 2023, more than 200 ships were queued outside the Panama Canal. Not because of a war, or a strike, or a systems failure — because it hadn’t rained. The lake that powers the canal’s locks had dropped to its lowest level in recorded history.</a:t>
            </a:r>
          </a:p>
          <a:p>
            <a:pPr algn="l"/>
            <a:r>
              <a:rPr sz="600" b="0" i="0">
                <a:solidFill>
                  <a:srgbClr val="BBCCDD"/>
                </a:solidFill>
                <a:latin typeface="Nunito Sans"/>
              </a:rPr>
              <a:t/>
            </a:r>
          </a:p>
          <a:p>
            <a:pPr algn="l"/>
            <a:r>
              <a:rPr sz="1200" b="0" i="0">
                <a:solidFill>
                  <a:srgbClr val="BBCCDD"/>
                </a:solidFill>
                <a:latin typeface="Nunito Sans"/>
              </a:rPr>
              <a:t>Ships that normally waited four days were waiting three weeks. Bananas from Ecuador rotted in containers. LNG tankers rerouted around the southern tip of South America, adding ten days and thousands of tonnes of extra emissions per journey.</a:t>
            </a:r>
          </a:p>
          <a:p>
            <a:pPr algn="l"/>
            <a:r>
              <a:rPr sz="600" b="0" i="0">
                <a:solidFill>
                  <a:srgbClr val="BBCCDD"/>
                </a:solidFill>
                <a:latin typeface="Nunito Sans"/>
              </a:rPr>
              <a:t/>
            </a:r>
          </a:p>
          <a:p>
            <a:pPr algn="l"/>
            <a:r>
              <a:rPr sz="1200" b="0" i="0">
                <a:solidFill>
                  <a:srgbClr val="BBCCDD"/>
                </a:solidFill>
                <a:latin typeface="Nunito Sans"/>
              </a:rPr>
              <a:t>Five percent of all global trade flows through that canal. It was stopped — not by geopolitics, but by a drought. The fault line isn’t coming. It’s already running beneath us, and every season it runs a little deeper.</a:t>
            </a:r>
          </a:p>
        </p:txBody>
      </p:sp>
      <p:sp>
        <p:nvSpPr>
          <p:cNvPr id="9" name="TextBox 8"/>
          <p:cNvSpPr txBox="1"/>
          <p:nvPr/>
        </p:nvSpPr>
        <p:spPr>
          <a:xfrm>
            <a:off x="365760" y="6492240"/>
            <a:ext cx="5486400" cy="256032"/>
          </a:xfrm>
          <a:prstGeom prst="rect">
            <a:avLst/>
          </a:prstGeom>
          <a:noFill/>
        </p:spPr>
        <p:txBody>
          <a:bodyPr wrap="square">
            <a:spAutoFit/>
          </a:bodyPr>
          <a:lstStyle/>
          <a:p>
            <a:pPr algn="l"/>
            <a:r>
              <a:rPr sz="1000" b="0" i="1">
                <a:solidFill>
                  <a:srgbClr val="AAAAAA"/>
                </a:solidFill>
                <a:latin typeface="Nunito Sans"/>
              </a:rPr>
              <a:t>Panama Canal, 2023</a:t>
            </a:r>
          </a:p>
        </p:txBody>
      </p:sp>
      <p:sp>
        <p:nvSpPr>
          <p:cNvPr id="10" name="Rectangle 9"/>
          <p:cNvSpPr/>
          <p:nvPr/>
        </p:nvSpPr>
        <p:spPr>
          <a:xfrm>
            <a:off x="6099048" y="0"/>
            <a:ext cx="18288" cy="6858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237744"/>
            <a:ext cx="5486400" cy="256032"/>
          </a:xfrm>
          <a:prstGeom prst="rect">
            <a:avLst/>
          </a:prstGeom>
          <a:noFill/>
        </p:spPr>
        <p:txBody>
          <a:bodyPr wrap="square">
            <a:spAutoFit/>
          </a:bodyPr>
          <a:lstStyle/>
          <a:p>
            <a:pPr algn="l"/>
            <a:r>
              <a:rPr sz="1000" b="1" i="0">
                <a:solidFill>
                  <a:srgbClr val="B52C75"/>
                </a:solidFill>
                <a:latin typeface="Nunito Sans"/>
              </a:rPr>
              <a:t>CHAPTER TWO</a:t>
            </a:r>
          </a:p>
        </p:txBody>
      </p:sp>
      <p:sp>
        <p:nvSpPr>
          <p:cNvPr id="12" name="TextBox 11"/>
          <p:cNvSpPr txBox="1"/>
          <p:nvPr/>
        </p:nvSpPr>
        <p:spPr>
          <a:xfrm>
            <a:off x="6291072" y="493776"/>
            <a:ext cx="5486400" cy="548640"/>
          </a:xfrm>
          <a:prstGeom prst="rect">
            <a:avLst/>
          </a:prstGeom>
          <a:noFill/>
        </p:spPr>
        <p:txBody>
          <a:bodyPr wrap="square">
            <a:spAutoFit/>
          </a:bodyPr>
          <a:lstStyle/>
          <a:p>
            <a:pPr algn="l"/>
            <a:r>
              <a:rPr sz="3800" b="1" i="0">
                <a:solidFill>
                  <a:srgbClr val="232C3A"/>
                </a:solidFill>
                <a:latin typeface="Nunito Sans"/>
              </a:rPr>
              <a:t>Your Story</a:t>
            </a:r>
          </a:p>
        </p:txBody>
      </p:sp>
      <p:sp>
        <p:nvSpPr>
          <p:cNvPr id="13" name="Rectangle 12"/>
          <p:cNvSpPr/>
          <p:nvPr/>
        </p:nvSpPr>
        <p:spPr>
          <a:xfrm>
            <a:off x="6117336" y="1042415"/>
            <a:ext cx="6053328"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6208" y="1152144"/>
            <a:ext cx="5742432" cy="5449824"/>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152144"/>
            <a:ext cx="5742432"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8" y="1261872"/>
            <a:ext cx="5468112" cy="256032"/>
          </a:xfrm>
          <a:prstGeom prst="rect">
            <a:avLst/>
          </a:prstGeom>
          <a:noFill/>
        </p:spPr>
        <p:txBody>
          <a:bodyPr wrap="square">
            <a:spAutoFit/>
          </a:bodyPr>
          <a:lstStyle/>
          <a:p>
            <a:pPr algn="l"/>
            <a:r>
              <a:rPr sz="850" b="0" i="0">
                <a:solidFill>
                  <a:srgbClr val="778899"/>
                </a:solidFill>
                <a:latin typeface="Nunito Sans"/>
              </a:rPr>
              <a:t>WRITE YOUR OWN STORY HERE</a:t>
            </a:r>
          </a:p>
        </p:txBody>
      </p:sp>
      <p:sp>
        <p:nvSpPr>
          <p:cNvPr id="17" name="TextBox 16"/>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9048" cy="68580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0" y="-548640"/>
            <a:ext cx="2194560" cy="219456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5486400" cy="228600"/>
          </a:xfrm>
          <a:prstGeom prst="rect">
            <a:avLst/>
          </a:prstGeom>
          <a:noFill/>
        </p:spPr>
        <p:txBody>
          <a:bodyPr wrap="square">
            <a:spAutoFit/>
          </a:bodyPr>
          <a:lstStyle/>
          <a:p>
            <a:pPr algn="l"/>
            <a:r>
              <a:rPr sz="900" b="0" i="0">
                <a:solidFill>
                  <a:srgbClr val="AAAAAA"/>
                </a:solidFill>
                <a:latin typeface="Nunito Sans"/>
              </a:rPr>
              <a:t>STORY</a:t>
            </a:r>
          </a:p>
        </p:txBody>
      </p:sp>
      <p:sp>
        <p:nvSpPr>
          <p:cNvPr id="5" name="TextBox 4"/>
          <p:cNvSpPr txBox="1"/>
          <p:nvPr/>
        </p:nvSpPr>
        <p:spPr>
          <a:xfrm>
            <a:off x="365760" y="502920"/>
            <a:ext cx="5486400" cy="256032"/>
          </a:xfrm>
          <a:prstGeom prst="rect">
            <a:avLst/>
          </a:prstGeom>
          <a:noFill/>
        </p:spPr>
        <p:txBody>
          <a:bodyPr wrap="square">
            <a:spAutoFit/>
          </a:bodyPr>
          <a:lstStyle/>
          <a:p>
            <a:pPr algn="l"/>
            <a:r>
              <a:rPr sz="1000" b="1" i="0">
                <a:solidFill>
                  <a:srgbClr val="B52C75"/>
                </a:solidFill>
                <a:latin typeface="Nunito Sans"/>
              </a:rPr>
              <a:t>CHAPTER THREE</a:t>
            </a:r>
          </a:p>
        </p:txBody>
      </p:sp>
      <p:sp>
        <p:nvSpPr>
          <p:cNvPr id="6" name="TextBox 5"/>
          <p:cNvSpPr txBox="1"/>
          <p:nvPr/>
        </p:nvSpPr>
        <p:spPr>
          <a:xfrm>
            <a:off x="365760" y="777240"/>
            <a:ext cx="5486400" cy="822960"/>
          </a:xfrm>
          <a:prstGeom prst="rect">
            <a:avLst/>
          </a:prstGeom>
          <a:noFill/>
        </p:spPr>
        <p:txBody>
          <a:bodyPr wrap="square">
            <a:spAutoFit/>
          </a:bodyPr>
          <a:lstStyle/>
          <a:p>
            <a:pPr algn="l"/>
            <a:r>
              <a:rPr sz="3000" b="1" i="0">
                <a:solidFill>
                  <a:srgbClr val="FFFFFF"/>
                </a:solidFill>
                <a:latin typeface="Nunito Sans"/>
              </a:rPr>
              <a:t>Reasons to
Believe</a:t>
            </a:r>
          </a:p>
        </p:txBody>
      </p:sp>
      <p:sp>
        <p:nvSpPr>
          <p:cNvPr id="7" name="Rectangle 6"/>
          <p:cNvSpPr/>
          <p:nvPr/>
        </p:nvSpPr>
        <p:spPr>
          <a:xfrm>
            <a:off x="365760" y="1664208"/>
            <a:ext cx="502920" cy="54864"/>
          </a:xfrm>
          <a:prstGeom prst="rect">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828800"/>
            <a:ext cx="5486400" cy="4389120"/>
          </a:xfrm>
          <a:prstGeom prst="rect">
            <a:avLst/>
          </a:prstGeom>
          <a:noFill/>
        </p:spPr>
        <p:txBody>
          <a:bodyPr wrap="square">
            <a:spAutoFit/>
          </a:bodyPr>
          <a:lstStyle/>
          <a:p>
            <a:pPr algn="l"/>
            <a:r>
              <a:rPr sz="1200" b="0" i="0">
                <a:solidFill>
                  <a:srgbClr val="BBCCDD"/>
                </a:solidFill>
                <a:latin typeface="Nunito Sans"/>
              </a:rPr>
              <a:t>In 2024, scientists at CSIRO in Australia placed small mesh boxes on the floor of the Great Barrier Reef. Inside were millions of coral larvae — grown in a lab, ready to settle. The first trial, at Lizard Island, recorded settlement rates 56 times higher than any previous method. Fish species not seen in years began returning within months.</a:t>
            </a:r>
          </a:p>
          <a:p>
            <a:pPr algn="l"/>
            <a:r>
              <a:rPr sz="600" b="0" i="0">
                <a:solidFill>
                  <a:srgbClr val="BBCCDD"/>
                </a:solidFill>
                <a:latin typeface="Nunito Sans"/>
              </a:rPr>
              <a:t/>
            </a:r>
          </a:p>
          <a:p>
            <a:pPr algn="l"/>
            <a:r>
              <a:rPr sz="1200" b="0" i="0">
                <a:solidFill>
                  <a:srgbClr val="BBCCDD"/>
                </a:solidFill>
                <a:latin typeface="Nunito Sans"/>
              </a:rPr>
              <a:t>The technology exists. The knowledge exists. We mapped the human genome. We built mRNA vaccines in eleven months. We connected five billion people.</a:t>
            </a:r>
          </a:p>
          <a:p>
            <a:pPr algn="l"/>
            <a:r>
              <a:rPr sz="600" b="0" i="0">
                <a:solidFill>
                  <a:srgbClr val="BBCCDD"/>
                </a:solidFill>
                <a:latin typeface="Nunito Sans"/>
              </a:rPr>
              <a:t/>
            </a:r>
          </a:p>
          <a:p>
            <a:pPr algn="l"/>
            <a:r>
              <a:rPr sz="1200" b="0" i="0">
                <a:solidFill>
                  <a:srgbClr val="BBCCDD"/>
                </a:solidFill>
                <a:latin typeface="Nunito Sans"/>
              </a:rPr>
              <a:t>We are not a species that lacks the capability to solve hard problems. We are a species that sometimes needs to decide that a problem is ours to solve. We can. We have everything we need except that decision.</a:t>
            </a:r>
          </a:p>
        </p:txBody>
      </p:sp>
      <p:sp>
        <p:nvSpPr>
          <p:cNvPr id="9" name="TextBox 8"/>
          <p:cNvSpPr txBox="1"/>
          <p:nvPr/>
        </p:nvSpPr>
        <p:spPr>
          <a:xfrm>
            <a:off x="365760" y="6492240"/>
            <a:ext cx="5486400" cy="256032"/>
          </a:xfrm>
          <a:prstGeom prst="rect">
            <a:avLst/>
          </a:prstGeom>
          <a:noFill/>
        </p:spPr>
        <p:txBody>
          <a:bodyPr wrap="square">
            <a:spAutoFit/>
          </a:bodyPr>
          <a:lstStyle/>
          <a:p>
            <a:pPr algn="l"/>
            <a:r>
              <a:rPr sz="1000" b="0" i="1">
                <a:solidFill>
                  <a:srgbClr val="AAAAAA"/>
                </a:solidFill>
                <a:latin typeface="Nunito Sans"/>
              </a:rPr>
              <a:t>Lizard Island, Great Barrier Reef, 2024</a:t>
            </a:r>
          </a:p>
        </p:txBody>
      </p:sp>
      <p:sp>
        <p:nvSpPr>
          <p:cNvPr id="10" name="Rectangle 9"/>
          <p:cNvSpPr/>
          <p:nvPr/>
        </p:nvSpPr>
        <p:spPr>
          <a:xfrm>
            <a:off x="6099048" y="0"/>
            <a:ext cx="18288" cy="6858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237744"/>
            <a:ext cx="5486400" cy="256032"/>
          </a:xfrm>
          <a:prstGeom prst="rect">
            <a:avLst/>
          </a:prstGeom>
          <a:noFill/>
        </p:spPr>
        <p:txBody>
          <a:bodyPr wrap="square">
            <a:spAutoFit/>
          </a:bodyPr>
          <a:lstStyle/>
          <a:p>
            <a:pPr algn="l"/>
            <a:r>
              <a:rPr sz="1000" b="1" i="0">
                <a:solidFill>
                  <a:srgbClr val="B52C75"/>
                </a:solidFill>
                <a:latin typeface="Nunito Sans"/>
              </a:rPr>
              <a:t>CHAPTER THREE</a:t>
            </a:r>
          </a:p>
        </p:txBody>
      </p:sp>
      <p:sp>
        <p:nvSpPr>
          <p:cNvPr id="12" name="TextBox 11"/>
          <p:cNvSpPr txBox="1"/>
          <p:nvPr/>
        </p:nvSpPr>
        <p:spPr>
          <a:xfrm>
            <a:off x="6291072" y="493776"/>
            <a:ext cx="5486400" cy="548640"/>
          </a:xfrm>
          <a:prstGeom prst="rect">
            <a:avLst/>
          </a:prstGeom>
          <a:noFill/>
        </p:spPr>
        <p:txBody>
          <a:bodyPr wrap="square">
            <a:spAutoFit/>
          </a:bodyPr>
          <a:lstStyle/>
          <a:p>
            <a:pPr algn="l"/>
            <a:r>
              <a:rPr sz="3800" b="1" i="0">
                <a:solidFill>
                  <a:srgbClr val="232C3A"/>
                </a:solidFill>
                <a:latin typeface="Nunito Sans"/>
              </a:rPr>
              <a:t>Your Story</a:t>
            </a:r>
          </a:p>
        </p:txBody>
      </p:sp>
      <p:sp>
        <p:nvSpPr>
          <p:cNvPr id="13" name="Rectangle 12"/>
          <p:cNvSpPr/>
          <p:nvPr/>
        </p:nvSpPr>
        <p:spPr>
          <a:xfrm>
            <a:off x="6117336" y="1042415"/>
            <a:ext cx="6053328"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6208" y="1152144"/>
            <a:ext cx="5742432" cy="5449824"/>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152144"/>
            <a:ext cx="5742432"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8" y="1261872"/>
            <a:ext cx="5468112" cy="256032"/>
          </a:xfrm>
          <a:prstGeom prst="rect">
            <a:avLst/>
          </a:prstGeom>
          <a:noFill/>
        </p:spPr>
        <p:txBody>
          <a:bodyPr wrap="square">
            <a:spAutoFit/>
          </a:bodyPr>
          <a:lstStyle/>
          <a:p>
            <a:pPr algn="l"/>
            <a:r>
              <a:rPr sz="850" b="0" i="0">
                <a:solidFill>
                  <a:srgbClr val="778899"/>
                </a:solidFill>
                <a:latin typeface="Nunito Sans"/>
              </a:rPr>
              <a:t>WRITE YOUR OWN STORY HERE</a:t>
            </a:r>
          </a:p>
        </p:txBody>
      </p:sp>
      <p:sp>
        <p:nvSpPr>
          <p:cNvPr id="17" name="TextBox 16"/>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9048" cy="68580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0" y="-548640"/>
            <a:ext cx="2194560" cy="219456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5486400" cy="228600"/>
          </a:xfrm>
          <a:prstGeom prst="rect">
            <a:avLst/>
          </a:prstGeom>
          <a:noFill/>
        </p:spPr>
        <p:txBody>
          <a:bodyPr wrap="square">
            <a:spAutoFit/>
          </a:bodyPr>
          <a:lstStyle/>
          <a:p>
            <a:pPr algn="l"/>
            <a:r>
              <a:rPr sz="900" b="0" i="0">
                <a:solidFill>
                  <a:srgbClr val="AAAAAA"/>
                </a:solidFill>
                <a:latin typeface="Nunito Sans"/>
              </a:rPr>
              <a:t>STORY</a:t>
            </a:r>
          </a:p>
        </p:txBody>
      </p:sp>
      <p:sp>
        <p:nvSpPr>
          <p:cNvPr id="5" name="TextBox 4"/>
          <p:cNvSpPr txBox="1"/>
          <p:nvPr/>
        </p:nvSpPr>
        <p:spPr>
          <a:xfrm>
            <a:off x="365760" y="502920"/>
            <a:ext cx="5486400" cy="256032"/>
          </a:xfrm>
          <a:prstGeom prst="rect">
            <a:avLst/>
          </a:prstGeom>
          <a:noFill/>
        </p:spPr>
        <p:txBody>
          <a:bodyPr wrap="square">
            <a:spAutoFit/>
          </a:bodyPr>
          <a:lstStyle/>
          <a:p>
            <a:pPr algn="l"/>
            <a:r>
              <a:rPr sz="1000" b="1" i="0">
                <a:solidFill>
                  <a:srgbClr val="B52C75"/>
                </a:solidFill>
                <a:latin typeface="Nunito Sans"/>
              </a:rPr>
              <a:t>CHAPTER FOUR</a:t>
            </a:r>
          </a:p>
        </p:txBody>
      </p:sp>
      <p:sp>
        <p:nvSpPr>
          <p:cNvPr id="6" name="TextBox 5"/>
          <p:cNvSpPr txBox="1"/>
          <p:nvPr/>
        </p:nvSpPr>
        <p:spPr>
          <a:xfrm>
            <a:off x="365760" y="777240"/>
            <a:ext cx="5486400" cy="822960"/>
          </a:xfrm>
          <a:prstGeom prst="rect">
            <a:avLst/>
          </a:prstGeom>
          <a:noFill/>
        </p:spPr>
        <p:txBody>
          <a:bodyPr wrap="square">
            <a:spAutoFit/>
          </a:bodyPr>
          <a:lstStyle/>
          <a:p>
            <a:pPr algn="l"/>
            <a:r>
              <a:rPr sz="3000" b="1" i="0">
                <a:solidFill>
                  <a:srgbClr val="FFFFFF"/>
                </a:solidFill>
                <a:latin typeface="Nunito Sans"/>
              </a:rPr>
              <a:t>No Going Back</a:t>
            </a:r>
          </a:p>
        </p:txBody>
      </p:sp>
      <p:sp>
        <p:nvSpPr>
          <p:cNvPr id="7" name="Rectangle 6"/>
          <p:cNvSpPr/>
          <p:nvPr/>
        </p:nvSpPr>
        <p:spPr>
          <a:xfrm>
            <a:off x="365760" y="1664208"/>
            <a:ext cx="502920" cy="54864"/>
          </a:xfrm>
          <a:prstGeom prst="rect">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828800"/>
            <a:ext cx="5486400" cy="4389120"/>
          </a:xfrm>
          <a:prstGeom prst="rect">
            <a:avLst/>
          </a:prstGeom>
          <a:noFill/>
        </p:spPr>
        <p:txBody>
          <a:bodyPr wrap="square">
            <a:spAutoFit/>
          </a:bodyPr>
          <a:lstStyle/>
          <a:p>
            <a:pPr algn="l"/>
            <a:r>
              <a:rPr sz="1200" b="0" i="0">
                <a:solidFill>
                  <a:srgbClr val="BBCCDD"/>
                </a:solidFill>
                <a:latin typeface="Nunito Sans"/>
              </a:rPr>
              <a:t>In September 2022, Yvon Chouinard walked into a room and told his employees that he was giving away Patagonia. Not selling it. Not floating it. Giving it — all $3 billion of it — to a trust whose sole purpose is to fight the climate crisis.</a:t>
            </a:r>
          </a:p>
          <a:p>
            <a:pPr algn="l"/>
            <a:r>
              <a:rPr sz="600" b="0" i="0">
                <a:solidFill>
                  <a:srgbClr val="BBCCDD"/>
                </a:solidFill>
                <a:latin typeface="Nunito Sans"/>
              </a:rPr>
              <a:t/>
            </a:r>
          </a:p>
          <a:p>
            <a:pPr algn="l"/>
            <a:r>
              <a:rPr sz="1200" b="0" i="0">
                <a:solidFill>
                  <a:srgbClr val="BBCCDD"/>
                </a:solidFill>
                <a:latin typeface="Nunito Sans"/>
              </a:rPr>
              <a:t>He updated the company’s website that day. It now reads: “Earth is now our only shareholder.” Every dollar of profit that isn’t reinvested goes directly to environmental work. Around $100 million a year.</a:t>
            </a:r>
          </a:p>
          <a:p>
            <a:pPr algn="l"/>
            <a:r>
              <a:rPr sz="600" b="0" i="0">
                <a:solidFill>
                  <a:srgbClr val="BBCCDD"/>
                </a:solidFill>
                <a:latin typeface="Nunito Sans"/>
              </a:rPr>
              <a:t/>
            </a:r>
          </a:p>
          <a:p>
            <a:pPr algn="l"/>
            <a:r>
              <a:rPr sz="1200" b="0" i="0">
                <a:solidFill>
                  <a:srgbClr val="BBCCDD"/>
                </a:solidFill>
                <a:latin typeface="Nunito Sans"/>
              </a:rPr>
              <a:t>Not a pledge. Not a target for 2050. A legal, irrevocable structure, built so that no future board, no future investor, no future pressure could undo it. That is what belief looks like when it stops being a value on a wall and becomes a decision you can’t take back.</a:t>
            </a:r>
          </a:p>
        </p:txBody>
      </p:sp>
      <p:sp>
        <p:nvSpPr>
          <p:cNvPr id="9" name="TextBox 8"/>
          <p:cNvSpPr txBox="1"/>
          <p:nvPr/>
        </p:nvSpPr>
        <p:spPr>
          <a:xfrm>
            <a:off x="365760" y="6492240"/>
            <a:ext cx="5486400" cy="256032"/>
          </a:xfrm>
          <a:prstGeom prst="rect">
            <a:avLst/>
          </a:prstGeom>
          <a:noFill/>
        </p:spPr>
        <p:txBody>
          <a:bodyPr wrap="square">
            <a:spAutoFit/>
          </a:bodyPr>
          <a:lstStyle/>
          <a:p>
            <a:pPr algn="l"/>
            <a:r>
              <a:rPr sz="1000" b="0" i="1">
                <a:solidFill>
                  <a:srgbClr val="AAAAAA"/>
                </a:solidFill>
                <a:latin typeface="Nunito Sans"/>
              </a:rPr>
              <a:t>Patagonia, September 2022</a:t>
            </a:r>
          </a:p>
        </p:txBody>
      </p:sp>
      <p:sp>
        <p:nvSpPr>
          <p:cNvPr id="10" name="Rectangle 9"/>
          <p:cNvSpPr/>
          <p:nvPr/>
        </p:nvSpPr>
        <p:spPr>
          <a:xfrm>
            <a:off x="6099048" y="0"/>
            <a:ext cx="18288" cy="6858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237744"/>
            <a:ext cx="5486400" cy="256032"/>
          </a:xfrm>
          <a:prstGeom prst="rect">
            <a:avLst/>
          </a:prstGeom>
          <a:noFill/>
        </p:spPr>
        <p:txBody>
          <a:bodyPr wrap="square">
            <a:spAutoFit/>
          </a:bodyPr>
          <a:lstStyle/>
          <a:p>
            <a:pPr algn="l"/>
            <a:r>
              <a:rPr sz="1000" b="1" i="0">
                <a:solidFill>
                  <a:srgbClr val="B52C75"/>
                </a:solidFill>
                <a:latin typeface="Nunito Sans"/>
              </a:rPr>
              <a:t>CHAPTER FOUR</a:t>
            </a:r>
          </a:p>
        </p:txBody>
      </p:sp>
      <p:sp>
        <p:nvSpPr>
          <p:cNvPr id="12" name="TextBox 11"/>
          <p:cNvSpPr txBox="1"/>
          <p:nvPr/>
        </p:nvSpPr>
        <p:spPr>
          <a:xfrm>
            <a:off x="6291072" y="493776"/>
            <a:ext cx="5486400" cy="548640"/>
          </a:xfrm>
          <a:prstGeom prst="rect">
            <a:avLst/>
          </a:prstGeom>
          <a:noFill/>
        </p:spPr>
        <p:txBody>
          <a:bodyPr wrap="square">
            <a:spAutoFit/>
          </a:bodyPr>
          <a:lstStyle/>
          <a:p>
            <a:pPr algn="l"/>
            <a:r>
              <a:rPr sz="3800" b="1" i="0">
                <a:solidFill>
                  <a:srgbClr val="232C3A"/>
                </a:solidFill>
                <a:latin typeface="Nunito Sans"/>
              </a:rPr>
              <a:t>Your Story</a:t>
            </a:r>
          </a:p>
        </p:txBody>
      </p:sp>
      <p:sp>
        <p:nvSpPr>
          <p:cNvPr id="13" name="Rectangle 12"/>
          <p:cNvSpPr/>
          <p:nvPr/>
        </p:nvSpPr>
        <p:spPr>
          <a:xfrm>
            <a:off x="6117336" y="1042415"/>
            <a:ext cx="6053328"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6208" y="1152144"/>
            <a:ext cx="5742432" cy="5449824"/>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152144"/>
            <a:ext cx="5742432"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8" y="1261872"/>
            <a:ext cx="5468112" cy="256032"/>
          </a:xfrm>
          <a:prstGeom prst="rect">
            <a:avLst/>
          </a:prstGeom>
          <a:noFill/>
        </p:spPr>
        <p:txBody>
          <a:bodyPr wrap="square">
            <a:spAutoFit/>
          </a:bodyPr>
          <a:lstStyle/>
          <a:p>
            <a:pPr algn="l"/>
            <a:r>
              <a:rPr sz="850" b="0" i="0">
                <a:solidFill>
                  <a:srgbClr val="778899"/>
                </a:solidFill>
                <a:latin typeface="Nunito Sans"/>
              </a:rPr>
              <a:t>WRITE YOUR OWN STORY HERE</a:t>
            </a:r>
          </a:p>
        </p:txBody>
      </p:sp>
      <p:sp>
        <p:nvSpPr>
          <p:cNvPr id="17" name="TextBox 16"/>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9048" cy="685800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0" y="-548640"/>
            <a:ext cx="2194560" cy="219456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5486400" cy="228600"/>
          </a:xfrm>
          <a:prstGeom prst="rect">
            <a:avLst/>
          </a:prstGeom>
          <a:noFill/>
        </p:spPr>
        <p:txBody>
          <a:bodyPr wrap="square">
            <a:spAutoFit/>
          </a:bodyPr>
          <a:lstStyle/>
          <a:p>
            <a:pPr algn="l"/>
            <a:r>
              <a:rPr sz="900" b="0" i="0">
                <a:solidFill>
                  <a:srgbClr val="AAAAAA"/>
                </a:solidFill>
                <a:latin typeface="Nunito Sans"/>
              </a:rPr>
              <a:t>STORY</a:t>
            </a:r>
          </a:p>
        </p:txBody>
      </p:sp>
      <p:sp>
        <p:nvSpPr>
          <p:cNvPr id="5" name="TextBox 4"/>
          <p:cNvSpPr txBox="1"/>
          <p:nvPr/>
        </p:nvSpPr>
        <p:spPr>
          <a:xfrm>
            <a:off x="365760" y="502920"/>
            <a:ext cx="5486400" cy="256032"/>
          </a:xfrm>
          <a:prstGeom prst="rect">
            <a:avLst/>
          </a:prstGeom>
          <a:noFill/>
        </p:spPr>
        <p:txBody>
          <a:bodyPr wrap="square">
            <a:spAutoFit/>
          </a:bodyPr>
          <a:lstStyle/>
          <a:p>
            <a:pPr algn="l"/>
            <a:r>
              <a:rPr sz="1000" b="1" i="0">
                <a:solidFill>
                  <a:srgbClr val="B52C75"/>
                </a:solidFill>
                <a:latin typeface="Nunito Sans"/>
              </a:rPr>
              <a:t>CHAPTER FIVE</a:t>
            </a:r>
          </a:p>
        </p:txBody>
      </p:sp>
      <p:sp>
        <p:nvSpPr>
          <p:cNvPr id="6" name="TextBox 5"/>
          <p:cNvSpPr txBox="1"/>
          <p:nvPr/>
        </p:nvSpPr>
        <p:spPr>
          <a:xfrm>
            <a:off x="365760" y="777240"/>
            <a:ext cx="5486400" cy="822960"/>
          </a:xfrm>
          <a:prstGeom prst="rect">
            <a:avLst/>
          </a:prstGeom>
          <a:noFill/>
        </p:spPr>
        <p:txBody>
          <a:bodyPr wrap="square">
            <a:spAutoFit/>
          </a:bodyPr>
          <a:lstStyle/>
          <a:p>
            <a:pPr algn="l"/>
            <a:r>
              <a:rPr sz="3000" b="1" i="0">
                <a:solidFill>
                  <a:srgbClr val="FFFFFF"/>
                </a:solidFill>
                <a:latin typeface="Nunito Sans"/>
              </a:rPr>
              <a:t>Imagine When</a:t>
            </a:r>
          </a:p>
        </p:txBody>
      </p:sp>
      <p:sp>
        <p:nvSpPr>
          <p:cNvPr id="7" name="Rectangle 6"/>
          <p:cNvSpPr/>
          <p:nvPr/>
        </p:nvSpPr>
        <p:spPr>
          <a:xfrm>
            <a:off x="365760" y="1664208"/>
            <a:ext cx="502920" cy="54864"/>
          </a:xfrm>
          <a:prstGeom prst="rect">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828800"/>
            <a:ext cx="5486400" cy="4389120"/>
          </a:xfrm>
          <a:prstGeom prst="rect">
            <a:avLst/>
          </a:prstGeom>
          <a:noFill/>
        </p:spPr>
        <p:txBody>
          <a:bodyPr wrap="square">
            <a:spAutoFit/>
          </a:bodyPr>
          <a:lstStyle/>
          <a:p>
            <a:pPr algn="l"/>
            <a:r>
              <a:rPr sz="1200" b="0" i="0">
                <a:solidFill>
                  <a:srgbClr val="BBCCDD"/>
                </a:solidFill>
                <a:latin typeface="Nunito Sans"/>
              </a:rPr>
              <a:t>Imagine a morning when the CEO of a shipping company checks the Panama Canal and the water levels are stable — and have been for twenty years. When a procurement director reviews her supply chain and every tier is measured, transparent, and improving.</a:t>
            </a:r>
          </a:p>
          <a:p>
            <a:pPr algn="l"/>
            <a:r>
              <a:rPr sz="600" b="0" i="0">
                <a:solidFill>
                  <a:srgbClr val="BBCCDD"/>
                </a:solidFill>
                <a:latin typeface="Nunito Sans"/>
              </a:rPr>
              <a:t/>
            </a:r>
          </a:p>
          <a:p>
            <a:pPr algn="l"/>
            <a:r>
              <a:rPr sz="1200" b="0" i="0">
                <a:solidFill>
                  <a:srgbClr val="BBCCDD"/>
                </a:solidFill>
                <a:latin typeface="Nunito Sans"/>
              </a:rPr>
              <a:t>When a scientist at Lizard Island dives on a reef she helped restore and counts species she only ever saw in textbooks. When the energy powering this room comes from somewhere clean, costs less than it used to, and employs more people than what came before.</a:t>
            </a:r>
          </a:p>
          <a:p>
            <a:pPr algn="l"/>
            <a:r>
              <a:rPr sz="600" b="0" i="0">
                <a:solidFill>
                  <a:srgbClr val="BBCCDD"/>
                </a:solidFill>
                <a:latin typeface="Nunito Sans"/>
              </a:rPr>
              <a:t/>
            </a:r>
          </a:p>
          <a:p>
            <a:pPr algn="l"/>
            <a:r>
              <a:rPr sz="1200" b="0" i="0">
                <a:solidFill>
                  <a:srgbClr val="BBCCDD"/>
                </a:solidFill>
                <a:latin typeface="Nunito Sans"/>
              </a:rPr>
              <a:t>That world is not fantasy — every single part of it is already happening somewhere, for someone, right now. What we are deciding, in rooms like this one, is how much of it becomes everywhere.</a:t>
            </a:r>
          </a:p>
        </p:txBody>
      </p:sp>
      <p:sp>
        <p:nvSpPr>
          <p:cNvPr id="9" name="Rectangle 8"/>
          <p:cNvSpPr/>
          <p:nvPr/>
        </p:nvSpPr>
        <p:spPr>
          <a:xfrm>
            <a:off x="6099048" y="0"/>
            <a:ext cx="18288" cy="6858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1072" y="237744"/>
            <a:ext cx="5486400" cy="256032"/>
          </a:xfrm>
          <a:prstGeom prst="rect">
            <a:avLst/>
          </a:prstGeom>
          <a:noFill/>
        </p:spPr>
        <p:txBody>
          <a:bodyPr wrap="square">
            <a:spAutoFit/>
          </a:bodyPr>
          <a:lstStyle/>
          <a:p>
            <a:pPr algn="l"/>
            <a:r>
              <a:rPr sz="1000" b="1" i="0">
                <a:solidFill>
                  <a:srgbClr val="B52C75"/>
                </a:solidFill>
                <a:latin typeface="Nunito Sans"/>
              </a:rPr>
              <a:t>CHAPTER FIVE</a:t>
            </a:r>
          </a:p>
        </p:txBody>
      </p:sp>
      <p:sp>
        <p:nvSpPr>
          <p:cNvPr id="11" name="TextBox 10"/>
          <p:cNvSpPr txBox="1"/>
          <p:nvPr/>
        </p:nvSpPr>
        <p:spPr>
          <a:xfrm>
            <a:off x="6291072" y="493776"/>
            <a:ext cx="5486400" cy="548640"/>
          </a:xfrm>
          <a:prstGeom prst="rect">
            <a:avLst/>
          </a:prstGeom>
          <a:noFill/>
        </p:spPr>
        <p:txBody>
          <a:bodyPr wrap="square">
            <a:spAutoFit/>
          </a:bodyPr>
          <a:lstStyle/>
          <a:p>
            <a:pPr algn="l"/>
            <a:r>
              <a:rPr sz="3800" b="1" i="0">
                <a:solidFill>
                  <a:srgbClr val="232C3A"/>
                </a:solidFill>
                <a:latin typeface="Nunito Sans"/>
              </a:rPr>
              <a:t>Your Story</a:t>
            </a:r>
          </a:p>
        </p:txBody>
      </p:sp>
      <p:sp>
        <p:nvSpPr>
          <p:cNvPr id="12" name="Rectangle 11"/>
          <p:cNvSpPr/>
          <p:nvPr/>
        </p:nvSpPr>
        <p:spPr>
          <a:xfrm>
            <a:off x="6117336" y="1042415"/>
            <a:ext cx="6053328"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152144"/>
            <a:ext cx="5742432" cy="5449824"/>
          </a:xfrm>
          <a:prstGeom prst="rect">
            <a:avLst/>
          </a:prstGeom>
          <a:solidFill>
            <a:srgbClr val="FFFFFF"/>
          </a:solidFill>
          <a:ln w="9525">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6208" y="1152144"/>
            <a:ext cx="5742432"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3368" y="1261872"/>
            <a:ext cx="5468112" cy="256032"/>
          </a:xfrm>
          <a:prstGeom prst="rect">
            <a:avLst/>
          </a:prstGeom>
          <a:noFill/>
        </p:spPr>
        <p:txBody>
          <a:bodyPr wrap="square">
            <a:spAutoFit/>
          </a:bodyPr>
          <a:lstStyle/>
          <a:p>
            <a:pPr algn="l"/>
            <a:r>
              <a:rPr sz="850" b="0" i="0">
                <a:solidFill>
                  <a:srgbClr val="778899"/>
                </a:solidFill>
                <a:latin typeface="Nunito Sans"/>
              </a:rPr>
              <a:t>WRITE YOUR OWN STORY HERE</a:t>
            </a:r>
          </a:p>
        </p:txBody>
      </p:sp>
      <p:sp>
        <p:nvSpPr>
          <p:cNvPr id="16" name="TextBox 15"/>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636008" cy="5989320"/>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636008" y="0"/>
            <a:ext cx="18288" cy="5989320"/>
          </a:xfrm>
          <a:prstGeom prst="rect">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989320"/>
            <a:ext cx="12188952" cy="86868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37760" y="2011680"/>
            <a:ext cx="6858000" cy="1645920"/>
          </a:xfrm>
          <a:prstGeom prst="rect">
            <a:avLst/>
          </a:prstGeom>
          <a:noFill/>
        </p:spPr>
        <p:txBody>
          <a:bodyPr wrap="square">
            <a:spAutoFit/>
          </a:bodyPr>
          <a:lstStyle/>
          <a:p>
            <a:pPr algn="l"/>
            <a:r>
              <a:rPr sz="5200" b="1" i="0">
                <a:solidFill>
                  <a:srgbClr val="232C3A"/>
                </a:solidFill>
                <a:latin typeface="Nunito Sans"/>
              </a:rPr>
              <a:t>Additional
Resources</a:t>
            </a:r>
          </a:p>
        </p:txBody>
      </p:sp>
      <p:sp>
        <p:nvSpPr>
          <p:cNvPr id="6" name="Rectangle 5"/>
          <p:cNvSpPr/>
          <p:nvPr/>
        </p:nvSpPr>
        <p:spPr>
          <a:xfrm>
            <a:off x="4937760" y="3840480"/>
            <a:ext cx="502920" cy="91440"/>
          </a:xfrm>
          <a:prstGeom prst="rect">
            <a:avLst/>
          </a:prstGeom>
          <a:solidFill>
            <a:srgbClr val="B52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0" y="4041648"/>
            <a:ext cx="6766560" cy="411480"/>
          </a:xfrm>
          <a:prstGeom prst="rect">
            <a:avLst/>
          </a:prstGeom>
          <a:noFill/>
        </p:spPr>
        <p:txBody>
          <a:bodyPr wrap="square">
            <a:spAutoFit/>
          </a:bodyPr>
          <a:lstStyle/>
          <a:p>
            <a:pPr algn="l"/>
            <a:r>
              <a:rPr sz="1400" b="0" i="0">
                <a:solidFill>
                  <a:srgbClr val="3A4A55"/>
                </a:solidFill>
                <a:latin typeface="Nunito Sans"/>
              </a:rPr>
              <a:t>You’ve come to the end of the workshops.</a:t>
            </a:r>
          </a:p>
        </p:txBody>
      </p:sp>
      <p:sp>
        <p:nvSpPr>
          <p:cNvPr id="8" name="TextBox 7"/>
          <p:cNvSpPr txBox="1"/>
          <p:nvPr/>
        </p:nvSpPr>
        <p:spPr>
          <a:xfrm>
            <a:off x="4937760" y="4526280"/>
            <a:ext cx="6766560" cy="365760"/>
          </a:xfrm>
          <a:prstGeom prst="rect">
            <a:avLst/>
          </a:prstGeom>
          <a:noFill/>
        </p:spPr>
        <p:txBody>
          <a:bodyPr wrap="square">
            <a:spAutoFit/>
          </a:bodyPr>
          <a:lstStyle/>
          <a:p>
            <a:pPr algn="l"/>
            <a:r>
              <a:rPr sz="1200" b="0" i="0">
                <a:solidFill>
                  <a:srgbClr val="AAAAAA"/>
                </a:solidFill>
                <a:latin typeface="Nunito Sans"/>
              </a:rPr>
              <a:t>However, your learning doesn’t have to stop here. This section includes materials shared in the workshop and additional reading.</a:t>
            </a:r>
          </a:p>
        </p:txBody>
      </p:sp>
      <p:sp>
        <p:nvSpPr>
          <p:cNvPr id="9" name="TextBox 8"/>
          <p:cNvSpPr txBox="1"/>
          <p:nvPr/>
        </p:nvSpPr>
        <p:spPr>
          <a:xfrm>
            <a:off x="0" y="6601968"/>
            <a:ext cx="11868912" cy="228600"/>
          </a:xfrm>
          <a:prstGeom prst="rect">
            <a:avLst/>
          </a:prstGeom>
          <a:noFill/>
        </p:spPr>
        <p:txBody>
          <a:bodyPr wrap="square">
            <a:spAutoFit/>
          </a:bodyPr>
          <a:lstStyle/>
          <a:p>
            <a:pPr algn="r"/>
            <a:r>
              <a:rPr sz="1100" b="0" i="1">
                <a:solidFill>
                  <a:srgbClr val="8899AA"/>
                </a:solidFill>
                <a:latin typeface="Nunito Sans"/>
              </a:rPr>
              <a:t>Storytelling Workbook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37744"/>
            <a:ext cx="11457432" cy="256032"/>
          </a:xfrm>
          <a:prstGeom prst="rect">
            <a:avLst/>
          </a:prstGeom>
          <a:noFill/>
        </p:spPr>
        <p:txBody>
          <a:bodyPr wrap="square">
            <a:spAutoFit/>
          </a:bodyPr>
          <a:lstStyle/>
          <a:p>
            <a:pPr algn="l"/>
            <a:r>
              <a:rPr sz="1100" b="1" i="0">
                <a:solidFill>
                  <a:srgbClr val="B52C75"/>
                </a:solidFill>
                <a:latin typeface="Nunito Sans"/>
              </a:rPr>
              <a:t>ADDITIONAL RESOURCES</a:t>
            </a:r>
          </a:p>
        </p:txBody>
      </p:sp>
      <p:sp>
        <p:nvSpPr>
          <p:cNvPr id="3" name="TextBox 2"/>
          <p:cNvSpPr txBox="1"/>
          <p:nvPr/>
        </p:nvSpPr>
        <p:spPr>
          <a:xfrm>
            <a:off x="365760" y="493776"/>
            <a:ext cx="11457432" cy="566928"/>
          </a:xfrm>
          <a:prstGeom prst="rect">
            <a:avLst/>
          </a:prstGeom>
          <a:noFill/>
        </p:spPr>
        <p:txBody>
          <a:bodyPr wrap="square">
            <a:spAutoFit/>
          </a:bodyPr>
          <a:lstStyle/>
          <a:p>
            <a:pPr algn="l"/>
            <a:r>
              <a:rPr sz="4400" b="1" i="0">
                <a:solidFill>
                  <a:srgbClr val="232C3A"/>
                </a:solidFill>
                <a:latin typeface="Nunito Sans"/>
              </a:rPr>
              <a:t>Why storytelling?</a:t>
            </a:r>
          </a:p>
        </p:txBody>
      </p:sp>
      <p:sp>
        <p:nvSpPr>
          <p:cNvPr id="4" name="Rectangle 3"/>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6" name="TextBox 5"/>
          <p:cNvSpPr txBox="1"/>
          <p:nvPr/>
        </p:nvSpPr>
        <p:spPr>
          <a:xfrm>
            <a:off x="365760" y="1170432"/>
            <a:ext cx="3931920" cy="2377440"/>
          </a:xfrm>
          <a:prstGeom prst="rect">
            <a:avLst/>
          </a:prstGeom>
          <a:noFill/>
        </p:spPr>
        <p:txBody>
          <a:bodyPr wrap="square">
            <a:spAutoFit/>
          </a:bodyPr>
          <a:lstStyle/>
          <a:p>
            <a:pPr algn="l">
              <a:spcAft>
                <a:spcPts val="800"/>
              </a:spcAft>
            </a:pPr>
            <a:r>
              <a:rPr sz="1300" b="0" i="0">
                <a:solidFill>
                  <a:srgbClr val="3A4A55"/>
                </a:solidFill>
                <a:latin typeface="Nunito Sans"/>
              </a:rPr>
              <a:t>Storytelling is one of humanity’s oldest and most powerful communication tools. Long before writing was invented, stories were the primary way knowledge, values and culture were transmitted from one generation to the next.</a:t>
            </a:r>
          </a:p>
          <a:p>
            <a:pPr algn="l"/>
            <a:r>
              <a:rPr sz="1300" b="0" i="0">
                <a:solidFill>
                  <a:srgbClr val="3A4A55"/>
                </a:solidFill>
                <a:latin typeface="Nunito Sans"/>
              </a:rPr>
              <a:t>In the modern organisation, storytelling is equally powerful. Research shows that facts wrapped in a story are up to 22 times more memorable than facts presented alone.</a:t>
            </a:r>
          </a:p>
        </p:txBody>
      </p:sp>
      <p:sp>
        <p:nvSpPr>
          <p:cNvPr id="7" name="Rectangle 6"/>
          <p:cNvSpPr/>
          <p:nvPr/>
        </p:nvSpPr>
        <p:spPr>
          <a:xfrm>
            <a:off x="365760" y="3794760"/>
            <a:ext cx="914400" cy="1024128"/>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3840480"/>
            <a:ext cx="804672" cy="228600"/>
          </a:xfrm>
          <a:prstGeom prst="rect">
            <a:avLst/>
          </a:prstGeom>
          <a:noFill/>
        </p:spPr>
        <p:txBody>
          <a:bodyPr wrap="square">
            <a:spAutoFit/>
          </a:bodyPr>
          <a:lstStyle/>
          <a:p>
            <a:pPr algn="l"/>
            <a:r>
              <a:rPr sz="750" b="1" i="0">
                <a:solidFill>
                  <a:srgbClr val="94DCD4"/>
                </a:solidFill>
                <a:latin typeface="Nunito Sans"/>
              </a:rPr>
              <a:t>VOLATILITY</a:t>
            </a:r>
          </a:p>
        </p:txBody>
      </p:sp>
      <p:sp>
        <p:nvSpPr>
          <p:cNvPr id="9" name="TextBox 8"/>
          <p:cNvSpPr txBox="1"/>
          <p:nvPr/>
        </p:nvSpPr>
        <p:spPr>
          <a:xfrm>
            <a:off x="420624" y="4087368"/>
            <a:ext cx="804672" cy="658368"/>
          </a:xfrm>
          <a:prstGeom prst="rect">
            <a:avLst/>
          </a:prstGeom>
          <a:noFill/>
        </p:spPr>
        <p:txBody>
          <a:bodyPr wrap="square">
            <a:spAutoFit/>
          </a:bodyPr>
          <a:lstStyle/>
          <a:p>
            <a:pPr algn="l"/>
            <a:r>
              <a:rPr sz="1000" b="1" i="0">
                <a:solidFill>
                  <a:srgbClr val="FFFFFF"/>
                </a:solidFill>
                <a:latin typeface="Nunito Sans"/>
              </a:rPr>
              <a:t>Vision</a:t>
            </a:r>
          </a:p>
        </p:txBody>
      </p:sp>
      <p:sp>
        <p:nvSpPr>
          <p:cNvPr id="10" name="Rectangle 9"/>
          <p:cNvSpPr/>
          <p:nvPr/>
        </p:nvSpPr>
        <p:spPr>
          <a:xfrm>
            <a:off x="1316736" y="3794760"/>
            <a:ext cx="914400" cy="1024128"/>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3840480"/>
            <a:ext cx="804672" cy="228600"/>
          </a:xfrm>
          <a:prstGeom prst="rect">
            <a:avLst/>
          </a:prstGeom>
          <a:noFill/>
        </p:spPr>
        <p:txBody>
          <a:bodyPr wrap="square">
            <a:spAutoFit/>
          </a:bodyPr>
          <a:lstStyle/>
          <a:p>
            <a:pPr algn="l"/>
            <a:r>
              <a:rPr sz="750" b="1" i="0">
                <a:solidFill>
                  <a:srgbClr val="94DCD4"/>
                </a:solidFill>
                <a:latin typeface="Nunito Sans"/>
              </a:rPr>
              <a:t>UNCERTAINTY</a:t>
            </a:r>
          </a:p>
        </p:txBody>
      </p:sp>
      <p:sp>
        <p:nvSpPr>
          <p:cNvPr id="12" name="TextBox 11"/>
          <p:cNvSpPr txBox="1"/>
          <p:nvPr/>
        </p:nvSpPr>
        <p:spPr>
          <a:xfrm>
            <a:off x="1371600" y="4087368"/>
            <a:ext cx="804672" cy="658368"/>
          </a:xfrm>
          <a:prstGeom prst="rect">
            <a:avLst/>
          </a:prstGeom>
          <a:noFill/>
        </p:spPr>
        <p:txBody>
          <a:bodyPr wrap="square">
            <a:spAutoFit/>
          </a:bodyPr>
          <a:lstStyle/>
          <a:p>
            <a:pPr algn="l"/>
            <a:r>
              <a:rPr sz="1000" b="1" i="0">
                <a:solidFill>
                  <a:srgbClr val="FFFFFF"/>
                </a:solidFill>
                <a:latin typeface="Nunito Sans"/>
              </a:rPr>
              <a:t>Understanding
&amp; Unity</a:t>
            </a:r>
          </a:p>
        </p:txBody>
      </p:sp>
      <p:sp>
        <p:nvSpPr>
          <p:cNvPr id="13" name="Rectangle 12"/>
          <p:cNvSpPr/>
          <p:nvPr/>
        </p:nvSpPr>
        <p:spPr>
          <a:xfrm>
            <a:off x="2267712" y="3794760"/>
            <a:ext cx="914400" cy="1024128"/>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22576" y="3840480"/>
            <a:ext cx="804672" cy="228600"/>
          </a:xfrm>
          <a:prstGeom prst="rect">
            <a:avLst/>
          </a:prstGeom>
          <a:noFill/>
        </p:spPr>
        <p:txBody>
          <a:bodyPr wrap="square">
            <a:spAutoFit/>
          </a:bodyPr>
          <a:lstStyle/>
          <a:p>
            <a:pPr algn="l"/>
            <a:r>
              <a:rPr sz="750" b="1" i="0">
                <a:solidFill>
                  <a:srgbClr val="94DCD4"/>
                </a:solidFill>
                <a:latin typeface="Nunito Sans"/>
              </a:rPr>
              <a:t>COMPLEXITY</a:t>
            </a:r>
          </a:p>
        </p:txBody>
      </p:sp>
      <p:sp>
        <p:nvSpPr>
          <p:cNvPr id="15" name="TextBox 14"/>
          <p:cNvSpPr txBox="1"/>
          <p:nvPr/>
        </p:nvSpPr>
        <p:spPr>
          <a:xfrm>
            <a:off x="2322576" y="4087368"/>
            <a:ext cx="804672" cy="658368"/>
          </a:xfrm>
          <a:prstGeom prst="rect">
            <a:avLst/>
          </a:prstGeom>
          <a:noFill/>
        </p:spPr>
        <p:txBody>
          <a:bodyPr wrap="square">
            <a:spAutoFit/>
          </a:bodyPr>
          <a:lstStyle/>
          <a:p>
            <a:pPr algn="l"/>
            <a:r>
              <a:rPr sz="1000" b="1" i="0">
                <a:solidFill>
                  <a:srgbClr val="FFFFFF"/>
                </a:solidFill>
                <a:latin typeface="Nunito Sans"/>
              </a:rPr>
              <a:t>Clarity &amp;
Connection</a:t>
            </a:r>
          </a:p>
        </p:txBody>
      </p:sp>
      <p:sp>
        <p:nvSpPr>
          <p:cNvPr id="16" name="Rectangle 15"/>
          <p:cNvSpPr/>
          <p:nvPr/>
        </p:nvSpPr>
        <p:spPr>
          <a:xfrm>
            <a:off x="3218688" y="3794760"/>
            <a:ext cx="914400" cy="1024128"/>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73552" y="3840480"/>
            <a:ext cx="804672" cy="228600"/>
          </a:xfrm>
          <a:prstGeom prst="rect">
            <a:avLst/>
          </a:prstGeom>
          <a:noFill/>
        </p:spPr>
        <p:txBody>
          <a:bodyPr wrap="square">
            <a:spAutoFit/>
          </a:bodyPr>
          <a:lstStyle/>
          <a:p>
            <a:pPr algn="l"/>
            <a:r>
              <a:rPr sz="750" b="1" i="0">
                <a:solidFill>
                  <a:srgbClr val="94DCD4"/>
                </a:solidFill>
                <a:latin typeface="Nunito Sans"/>
              </a:rPr>
              <a:t>AMBIGUITY</a:t>
            </a:r>
          </a:p>
        </p:txBody>
      </p:sp>
      <p:sp>
        <p:nvSpPr>
          <p:cNvPr id="18" name="TextBox 17"/>
          <p:cNvSpPr txBox="1"/>
          <p:nvPr/>
        </p:nvSpPr>
        <p:spPr>
          <a:xfrm>
            <a:off x="3273552" y="4087368"/>
            <a:ext cx="804672" cy="658368"/>
          </a:xfrm>
          <a:prstGeom prst="rect">
            <a:avLst/>
          </a:prstGeom>
          <a:noFill/>
        </p:spPr>
        <p:txBody>
          <a:bodyPr wrap="square">
            <a:spAutoFit/>
          </a:bodyPr>
          <a:lstStyle/>
          <a:p>
            <a:pPr algn="l"/>
            <a:r>
              <a:rPr sz="1000" b="1" i="0">
                <a:solidFill>
                  <a:srgbClr val="FFFFFF"/>
                </a:solidFill>
                <a:latin typeface="Nunito Sans"/>
              </a:rPr>
              <a:t>Agility with
an Anchor</a:t>
            </a:r>
          </a:p>
        </p:txBody>
      </p:sp>
      <p:sp>
        <p:nvSpPr>
          <p:cNvPr id="19" name="Rectangle 18"/>
          <p:cNvSpPr/>
          <p:nvPr/>
        </p:nvSpPr>
        <p:spPr>
          <a:xfrm>
            <a:off x="4480560" y="1170432"/>
            <a:ext cx="7388352" cy="3977639"/>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3440" y="1280160"/>
            <a:ext cx="7040880" cy="411480"/>
          </a:xfrm>
          <a:prstGeom prst="rect">
            <a:avLst/>
          </a:prstGeom>
          <a:noFill/>
        </p:spPr>
        <p:txBody>
          <a:bodyPr wrap="square">
            <a:spAutoFit/>
          </a:bodyPr>
          <a:lstStyle/>
          <a:p>
            <a:pPr algn="l"/>
            <a:r>
              <a:rPr sz="1500" b="1" i="0">
                <a:solidFill>
                  <a:srgbClr val="232C3A"/>
                </a:solidFill>
                <a:latin typeface="Nunito Sans"/>
              </a:rPr>
              <a:t>A structure for your Illustrative Story</a:t>
            </a:r>
          </a:p>
        </p:txBody>
      </p:sp>
      <p:sp>
        <p:nvSpPr>
          <p:cNvPr id="21" name="TextBox 20"/>
          <p:cNvSpPr txBox="1"/>
          <p:nvPr/>
        </p:nvSpPr>
        <p:spPr>
          <a:xfrm>
            <a:off x="4663440" y="1737360"/>
            <a:ext cx="7040880" cy="3291840"/>
          </a:xfrm>
          <a:prstGeom prst="rect">
            <a:avLst/>
          </a:prstGeom>
          <a:noFill/>
        </p:spPr>
        <p:txBody>
          <a:bodyPr wrap="square">
            <a:spAutoFit/>
          </a:bodyPr>
          <a:lstStyle/>
          <a:p>
            <a:pPr>
              <a:spcAft>
                <a:spcPts val="500"/>
              </a:spcAft>
            </a:pPr>
            <a:r>
              <a:rPr b="1" sz="1200">
                <a:solidFill>
                  <a:srgbClr val="3A4A55"/>
                </a:solidFill>
                <a:latin typeface="Nunito Sans"/>
              </a:rPr>
              <a:t>·  A great example of…</a:t>
            </a:r>
            <a:r>
              <a:rPr b="0" sz="1200">
                <a:solidFill>
                  <a:srgbClr val="3A4A55"/>
                </a:solidFill>
                <a:latin typeface="Nunito Sans"/>
              </a:rPr>
              <a:t> (choose a theme from one of the key messages)</a:t>
            </a:r>
          </a:p>
          <a:p>
            <a:pPr>
              <a:spcAft>
                <a:spcPts val="500"/>
              </a:spcAft>
            </a:pPr>
            <a:r>
              <a:rPr b="1" sz="1200">
                <a:solidFill>
                  <a:srgbClr val="3A4A55"/>
                </a:solidFill>
                <a:latin typeface="Nunito Sans"/>
              </a:rPr>
              <a:t>·  … is this story about…</a:t>
            </a:r>
            <a:r>
              <a:rPr b="0" sz="1200">
                <a:solidFill>
                  <a:srgbClr val="3A4A55"/>
                </a:solidFill>
                <a:latin typeface="Nunito Sans"/>
              </a:rPr>
              <a:t> (hero or heroes)</a:t>
            </a:r>
          </a:p>
          <a:p>
            <a:pPr>
              <a:spcAft>
                <a:spcPts val="500"/>
              </a:spcAft>
            </a:pPr>
            <a:r>
              <a:rPr b="1" sz="1200">
                <a:solidFill>
                  <a:srgbClr val="3A4A55"/>
                </a:solidFill>
                <a:latin typeface="Nunito Sans"/>
              </a:rPr>
              <a:t>·  … when faced with…</a:t>
            </a:r>
            <a:r>
              <a:rPr b="0" sz="1200">
                <a:solidFill>
                  <a:srgbClr val="3A4A55"/>
                </a:solidFill>
                <a:latin typeface="Nunito Sans"/>
              </a:rPr>
              <a:t> (situation)</a:t>
            </a:r>
          </a:p>
          <a:p>
            <a:pPr>
              <a:spcAft>
                <a:spcPts val="500"/>
              </a:spcAft>
            </a:pPr>
            <a:r>
              <a:rPr b="1" sz="1200">
                <a:solidFill>
                  <a:srgbClr val="3A4A55"/>
                </a:solidFill>
                <a:latin typeface="Nunito Sans"/>
              </a:rPr>
              <a:t>·  … they knew that…</a:t>
            </a:r>
            <a:r>
              <a:rPr b="0" sz="1200">
                <a:solidFill>
                  <a:srgbClr val="3A4A55"/>
                </a:solidFill>
                <a:latin typeface="Nunito Sans"/>
              </a:rPr>
              <a:t> (what they were thinking)</a:t>
            </a:r>
          </a:p>
          <a:p>
            <a:pPr>
              <a:spcAft>
                <a:spcPts val="500"/>
              </a:spcAft>
            </a:pPr>
            <a:r>
              <a:rPr b="1" sz="1200">
                <a:solidFill>
                  <a:srgbClr val="3A4A55"/>
                </a:solidFill>
                <a:latin typeface="Nunito Sans"/>
              </a:rPr>
              <a:t>·  … so, they responded by…</a:t>
            </a:r>
            <a:r>
              <a:rPr b="0" sz="1200">
                <a:solidFill>
                  <a:srgbClr val="3A4A55"/>
                </a:solidFill>
                <a:latin typeface="Nunito Sans"/>
              </a:rPr>
              <a:t> (action / choice different from the norm)</a:t>
            </a:r>
          </a:p>
          <a:p>
            <a:pPr>
              <a:spcAft>
                <a:spcPts val="500"/>
              </a:spcAft>
            </a:pPr>
            <a:r>
              <a:rPr b="1" sz="1200">
                <a:solidFill>
                  <a:srgbClr val="3A4A55"/>
                </a:solidFill>
                <a:latin typeface="Nunito Sans"/>
              </a:rPr>
              <a:t>·  … and in doing so…</a:t>
            </a:r>
            <a:r>
              <a:rPr b="0" sz="1200">
                <a:solidFill>
                  <a:srgbClr val="3A4A55"/>
                </a:solidFill>
                <a:latin typeface="Nunito Sans"/>
              </a:rPr>
              <a:t> (consequence or outcome)</a:t>
            </a:r>
          </a:p>
          <a:p>
            <a:pPr>
              <a:spcAft>
                <a:spcPts val="500"/>
              </a:spcAft>
            </a:pPr>
            <a:r>
              <a:rPr b="1" sz="1200">
                <a:solidFill>
                  <a:srgbClr val="3A4A55"/>
                </a:solidFill>
                <a:latin typeface="Nunito Sans"/>
              </a:rPr>
              <a:t>·  … imagine if…</a:t>
            </a:r>
            <a:r>
              <a:rPr b="0" sz="1200">
                <a:solidFill>
                  <a:srgbClr val="3A4A55"/>
                </a:solidFill>
                <a:latin typeface="Nunito Sans"/>
              </a:rPr>
              <a:t> (extrapolation — team, organisation, society as a whole)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37744"/>
            <a:ext cx="11457432" cy="256032"/>
          </a:xfrm>
          <a:prstGeom prst="rect">
            <a:avLst/>
          </a:prstGeom>
          <a:noFill/>
        </p:spPr>
        <p:txBody>
          <a:bodyPr wrap="square">
            <a:spAutoFit/>
          </a:bodyPr>
          <a:lstStyle/>
          <a:p>
            <a:pPr algn="l"/>
            <a:r>
              <a:rPr sz="1100" b="1" i="0">
                <a:solidFill>
                  <a:srgbClr val="B52C75"/>
                </a:solidFill>
                <a:latin typeface="Nunito Sans"/>
              </a:rPr>
              <a:t>ADDITIONAL RESOURCES</a:t>
            </a:r>
          </a:p>
        </p:txBody>
      </p:sp>
      <p:sp>
        <p:nvSpPr>
          <p:cNvPr id="3" name="TextBox 2"/>
          <p:cNvSpPr txBox="1"/>
          <p:nvPr/>
        </p:nvSpPr>
        <p:spPr>
          <a:xfrm>
            <a:off x="365760" y="493776"/>
            <a:ext cx="11457432" cy="566928"/>
          </a:xfrm>
          <a:prstGeom prst="rect">
            <a:avLst/>
          </a:prstGeom>
          <a:noFill/>
        </p:spPr>
        <p:txBody>
          <a:bodyPr wrap="square">
            <a:spAutoFit/>
          </a:bodyPr>
          <a:lstStyle/>
          <a:p>
            <a:pPr algn="l"/>
            <a:r>
              <a:rPr sz="3800" b="1" i="0">
                <a:solidFill>
                  <a:srgbClr val="232C3A"/>
                </a:solidFill>
                <a:latin typeface="Nunito Sans"/>
              </a:rPr>
              <a:t>Further reading around storytelling</a:t>
            </a:r>
          </a:p>
        </p:txBody>
      </p:sp>
      <p:sp>
        <p:nvSpPr>
          <p:cNvPr id="4" name="Rectangle 3"/>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6" name="TextBox 5"/>
          <p:cNvSpPr txBox="1"/>
          <p:nvPr/>
        </p:nvSpPr>
        <p:spPr>
          <a:xfrm>
            <a:off x="365760" y="1170432"/>
            <a:ext cx="11457432" cy="914400"/>
          </a:xfrm>
          <a:prstGeom prst="rect">
            <a:avLst/>
          </a:prstGeom>
          <a:noFill/>
        </p:spPr>
        <p:txBody>
          <a:bodyPr wrap="square">
            <a:spAutoFit/>
          </a:bodyPr>
          <a:lstStyle/>
          <a:p>
            <a:pPr algn="l">
              <a:spcAft>
                <a:spcPts val="600"/>
              </a:spcAft>
            </a:pPr>
            <a:r>
              <a:rPr sz="1200" b="0" i="0">
                <a:solidFill>
                  <a:srgbClr val="3A4A55"/>
                </a:solidFill>
                <a:latin typeface="Nunito Sans"/>
              </a:rPr>
              <a:t>·  We covered your leadership story in the session. This is a story that relates to the specific journey you want to engage your team in. However, if you want to share a story around your personal values, purpose and motivation then the following site provides an easy to use structure.</a:t>
            </a:r>
          </a:p>
          <a:p>
            <a:pPr algn="l"/>
            <a:r>
              <a:rPr sz="1200" b="0" i="0">
                <a:solidFill>
                  <a:srgbClr val="3A4A55"/>
                </a:solidFill>
                <a:latin typeface="Nunito Sans"/>
              </a:rPr>
              <a:t>·  We looked at bringing the narrative to life with illustrative stories. This article describes three types of illustrative stories: stories as light, stories as glue and stories as web, which can be used in different ways to spark change.</a:t>
            </a:r>
          </a:p>
        </p:txBody>
      </p:sp>
      <p:sp>
        <p:nvSpPr>
          <p:cNvPr id="7" name="Rectangle 6"/>
          <p:cNvSpPr/>
          <p:nvPr/>
        </p:nvSpPr>
        <p:spPr>
          <a:xfrm>
            <a:off x="320040" y="2514600"/>
            <a:ext cx="5760720" cy="3977639"/>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892040" y="2057400"/>
            <a:ext cx="1645920" cy="1645920"/>
          </a:xfrm>
          <a:prstGeom prst="ellipse">
            <a:avLst/>
          </a:prstGeom>
          <a:solidFill>
            <a:srgbClr val="34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715768"/>
            <a:ext cx="1828800" cy="256032"/>
          </a:xfrm>
          <a:prstGeom prst="rect">
            <a:avLst/>
          </a:prstGeom>
          <a:noFill/>
        </p:spPr>
        <p:txBody>
          <a:bodyPr wrap="square">
            <a:spAutoFit/>
          </a:bodyPr>
          <a:lstStyle/>
          <a:p>
            <a:pPr algn="l"/>
            <a:r>
              <a:rPr sz="1100" b="1" i="0">
                <a:solidFill>
                  <a:srgbClr val="94DCD4"/>
                </a:solidFill>
                <a:latin typeface="Nunito Sans"/>
              </a:rPr>
              <a:t>READ</a:t>
            </a:r>
          </a:p>
        </p:txBody>
      </p:sp>
      <p:sp>
        <p:nvSpPr>
          <p:cNvPr id="10" name="Rectangle 9"/>
          <p:cNvSpPr/>
          <p:nvPr/>
        </p:nvSpPr>
        <p:spPr>
          <a:xfrm>
            <a:off x="594360" y="2990088"/>
            <a:ext cx="411480" cy="73152"/>
          </a:xfrm>
          <a:prstGeom prst="rect">
            <a:avLst/>
          </a:prstGeom>
          <a:solidFill>
            <a:srgbClr val="B52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3218688"/>
            <a:ext cx="54864" cy="457200"/>
          </a:xfrm>
          <a:prstGeom prst="rect">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3172968"/>
            <a:ext cx="5120640" cy="320040"/>
          </a:xfrm>
          <a:prstGeom prst="rect">
            <a:avLst/>
          </a:prstGeom>
          <a:noFill/>
        </p:spPr>
        <p:txBody>
          <a:bodyPr wrap="square">
            <a:spAutoFit/>
          </a:bodyPr>
          <a:lstStyle/>
          <a:p>
            <a:pPr algn="l"/>
            <a:r>
              <a:rPr sz="1100" b="0" i="1">
                <a:solidFill>
                  <a:srgbClr val="FFFFFF"/>
                </a:solidFill>
                <a:latin typeface="Nunito Sans"/>
              </a:rPr>
              <a:t>The Storytelling Animal: How Stories Make Us Human</a:t>
            </a:r>
          </a:p>
        </p:txBody>
      </p:sp>
      <p:sp>
        <p:nvSpPr>
          <p:cNvPr id="13" name="TextBox 12"/>
          <p:cNvSpPr txBox="1"/>
          <p:nvPr/>
        </p:nvSpPr>
        <p:spPr>
          <a:xfrm>
            <a:off x="740664" y="3520440"/>
            <a:ext cx="5120640" cy="256032"/>
          </a:xfrm>
          <a:prstGeom prst="rect">
            <a:avLst/>
          </a:prstGeom>
          <a:noFill/>
        </p:spPr>
        <p:txBody>
          <a:bodyPr wrap="square">
            <a:spAutoFit/>
          </a:bodyPr>
          <a:lstStyle/>
          <a:p>
            <a:pPr algn="l"/>
            <a:r>
              <a:rPr sz="1000" b="0" i="0">
                <a:solidFill>
                  <a:srgbClr val="AAAAAA"/>
                </a:solidFill>
                <a:latin typeface="Nunito Sans"/>
              </a:rPr>
              <a:t>Jonathan Gottschall</a:t>
            </a:r>
          </a:p>
        </p:txBody>
      </p:sp>
      <p:sp>
        <p:nvSpPr>
          <p:cNvPr id="14" name="Rectangle 13"/>
          <p:cNvSpPr/>
          <p:nvPr/>
        </p:nvSpPr>
        <p:spPr>
          <a:xfrm>
            <a:off x="594360" y="3877056"/>
            <a:ext cx="54864" cy="457200"/>
          </a:xfrm>
          <a:prstGeom prst="rect">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 y="3831336"/>
            <a:ext cx="5120640" cy="320040"/>
          </a:xfrm>
          <a:prstGeom prst="rect">
            <a:avLst/>
          </a:prstGeom>
          <a:noFill/>
        </p:spPr>
        <p:txBody>
          <a:bodyPr wrap="square">
            <a:spAutoFit/>
          </a:bodyPr>
          <a:lstStyle/>
          <a:p>
            <a:pPr algn="l"/>
            <a:r>
              <a:rPr sz="1100" b="0" i="1">
                <a:solidFill>
                  <a:srgbClr val="FFFFFF"/>
                </a:solidFill>
                <a:latin typeface="Nunito Sans"/>
              </a:rPr>
              <a:t>The Science of Storytelling</a:t>
            </a:r>
          </a:p>
        </p:txBody>
      </p:sp>
      <p:sp>
        <p:nvSpPr>
          <p:cNvPr id="16" name="TextBox 15"/>
          <p:cNvSpPr txBox="1"/>
          <p:nvPr/>
        </p:nvSpPr>
        <p:spPr>
          <a:xfrm>
            <a:off x="740664" y="4178808"/>
            <a:ext cx="5120640" cy="256032"/>
          </a:xfrm>
          <a:prstGeom prst="rect">
            <a:avLst/>
          </a:prstGeom>
          <a:noFill/>
        </p:spPr>
        <p:txBody>
          <a:bodyPr wrap="square">
            <a:spAutoFit/>
          </a:bodyPr>
          <a:lstStyle/>
          <a:p>
            <a:pPr algn="l"/>
            <a:r>
              <a:rPr sz="1000" b="0" i="0">
                <a:solidFill>
                  <a:srgbClr val="AAAAAA"/>
                </a:solidFill>
                <a:latin typeface="Nunito Sans"/>
              </a:rPr>
              <a:t>Will Storr</a:t>
            </a:r>
          </a:p>
        </p:txBody>
      </p:sp>
      <p:sp>
        <p:nvSpPr>
          <p:cNvPr id="17" name="Rectangle 16"/>
          <p:cNvSpPr/>
          <p:nvPr/>
        </p:nvSpPr>
        <p:spPr>
          <a:xfrm>
            <a:off x="594360" y="4535424"/>
            <a:ext cx="54864" cy="457200"/>
          </a:xfrm>
          <a:prstGeom prst="rect">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4489704"/>
            <a:ext cx="5120640" cy="320040"/>
          </a:xfrm>
          <a:prstGeom prst="rect">
            <a:avLst/>
          </a:prstGeom>
          <a:noFill/>
        </p:spPr>
        <p:txBody>
          <a:bodyPr wrap="square">
            <a:spAutoFit/>
          </a:bodyPr>
          <a:lstStyle/>
          <a:p>
            <a:pPr algn="l"/>
            <a:r>
              <a:rPr sz="1100" b="0" i="1">
                <a:solidFill>
                  <a:srgbClr val="FFFFFF"/>
                </a:solidFill>
                <a:latin typeface="Nunito Sans"/>
              </a:rPr>
              <a:t>The Story Factor: Inspiration, Influence, and Persuasion through the Art of Storytelling</a:t>
            </a:r>
          </a:p>
        </p:txBody>
      </p:sp>
      <p:sp>
        <p:nvSpPr>
          <p:cNvPr id="19" name="TextBox 18"/>
          <p:cNvSpPr txBox="1"/>
          <p:nvPr/>
        </p:nvSpPr>
        <p:spPr>
          <a:xfrm>
            <a:off x="740664" y="4837176"/>
            <a:ext cx="5120640" cy="256032"/>
          </a:xfrm>
          <a:prstGeom prst="rect">
            <a:avLst/>
          </a:prstGeom>
          <a:noFill/>
        </p:spPr>
        <p:txBody>
          <a:bodyPr wrap="square">
            <a:spAutoFit/>
          </a:bodyPr>
          <a:lstStyle/>
          <a:p>
            <a:pPr algn="l"/>
            <a:r>
              <a:rPr sz="1000" b="0" i="0">
                <a:solidFill>
                  <a:srgbClr val="AAAAAA"/>
                </a:solidFill>
                <a:latin typeface="Nunito Sans"/>
              </a:rPr>
              <a:t>Annette Simmons and Doug Lipman</a:t>
            </a:r>
          </a:p>
        </p:txBody>
      </p:sp>
      <p:sp>
        <p:nvSpPr>
          <p:cNvPr id="20" name="Rectangle 19"/>
          <p:cNvSpPr/>
          <p:nvPr/>
        </p:nvSpPr>
        <p:spPr>
          <a:xfrm>
            <a:off x="594360" y="5193792"/>
            <a:ext cx="54864" cy="457200"/>
          </a:xfrm>
          <a:prstGeom prst="rect">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 y="5148072"/>
            <a:ext cx="5120640" cy="320040"/>
          </a:xfrm>
          <a:prstGeom prst="rect">
            <a:avLst/>
          </a:prstGeom>
          <a:noFill/>
        </p:spPr>
        <p:txBody>
          <a:bodyPr wrap="square">
            <a:spAutoFit/>
          </a:bodyPr>
          <a:lstStyle/>
          <a:p>
            <a:pPr algn="l"/>
            <a:r>
              <a:rPr sz="1100" b="0" i="1">
                <a:solidFill>
                  <a:srgbClr val="FFFFFF"/>
                </a:solidFill>
                <a:latin typeface="Nunito Sans"/>
              </a:rPr>
              <a:t>Writing for Story: Craft Secrets of Dramatic Nonfiction</a:t>
            </a:r>
          </a:p>
        </p:txBody>
      </p:sp>
      <p:sp>
        <p:nvSpPr>
          <p:cNvPr id="22" name="TextBox 21"/>
          <p:cNvSpPr txBox="1"/>
          <p:nvPr/>
        </p:nvSpPr>
        <p:spPr>
          <a:xfrm>
            <a:off x="740664" y="5495544"/>
            <a:ext cx="5120640" cy="256032"/>
          </a:xfrm>
          <a:prstGeom prst="rect">
            <a:avLst/>
          </a:prstGeom>
          <a:noFill/>
        </p:spPr>
        <p:txBody>
          <a:bodyPr wrap="square">
            <a:spAutoFit/>
          </a:bodyPr>
          <a:lstStyle/>
          <a:p>
            <a:pPr algn="l"/>
            <a:r>
              <a:rPr sz="1000" b="0" i="0">
                <a:solidFill>
                  <a:srgbClr val="AAAAAA"/>
                </a:solidFill>
                <a:latin typeface="Nunito Sans"/>
              </a:rPr>
              <a:t>Jon Franklin</a:t>
            </a:r>
          </a:p>
        </p:txBody>
      </p:sp>
      <p:sp>
        <p:nvSpPr>
          <p:cNvPr id="23" name="Rectangle 22"/>
          <p:cNvSpPr/>
          <p:nvPr/>
        </p:nvSpPr>
        <p:spPr>
          <a:xfrm>
            <a:off x="594360" y="5852160"/>
            <a:ext cx="54864" cy="457200"/>
          </a:xfrm>
          <a:prstGeom prst="rect">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 y="5806440"/>
            <a:ext cx="5120640" cy="320040"/>
          </a:xfrm>
          <a:prstGeom prst="rect">
            <a:avLst/>
          </a:prstGeom>
          <a:noFill/>
        </p:spPr>
        <p:txBody>
          <a:bodyPr wrap="square">
            <a:spAutoFit/>
          </a:bodyPr>
          <a:lstStyle/>
          <a:p>
            <a:pPr algn="l"/>
            <a:r>
              <a:rPr sz="1100" b="0" i="1">
                <a:solidFill>
                  <a:srgbClr val="FFFFFF"/>
                </a:solidFill>
                <a:latin typeface="Nunito Sans"/>
              </a:rPr>
              <a:t>Made to Stick: Why Some Ideas Survive and Others Die</a:t>
            </a:r>
          </a:p>
        </p:txBody>
      </p:sp>
      <p:sp>
        <p:nvSpPr>
          <p:cNvPr id="25" name="TextBox 24"/>
          <p:cNvSpPr txBox="1"/>
          <p:nvPr/>
        </p:nvSpPr>
        <p:spPr>
          <a:xfrm>
            <a:off x="740664" y="6153912"/>
            <a:ext cx="5120640" cy="256032"/>
          </a:xfrm>
          <a:prstGeom prst="rect">
            <a:avLst/>
          </a:prstGeom>
          <a:noFill/>
        </p:spPr>
        <p:txBody>
          <a:bodyPr wrap="square">
            <a:spAutoFit/>
          </a:bodyPr>
          <a:lstStyle/>
          <a:p>
            <a:pPr algn="l"/>
            <a:r>
              <a:rPr sz="1000" b="0" i="0">
                <a:solidFill>
                  <a:srgbClr val="AAAAAA"/>
                </a:solidFill>
                <a:latin typeface="Nunito Sans"/>
              </a:rPr>
              <a:t>Chip and Dan Heath</a:t>
            </a:r>
          </a:p>
        </p:txBody>
      </p:sp>
      <p:sp>
        <p:nvSpPr>
          <p:cNvPr id="26" name="Rectangle 25"/>
          <p:cNvSpPr/>
          <p:nvPr/>
        </p:nvSpPr>
        <p:spPr>
          <a:xfrm>
            <a:off x="6236208" y="2514600"/>
            <a:ext cx="5632704" cy="3977639"/>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680192" y="5303519"/>
            <a:ext cx="1645920" cy="1645920"/>
          </a:xfrm>
          <a:prstGeom prst="ellipse">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0528" y="2715768"/>
            <a:ext cx="1828800" cy="256032"/>
          </a:xfrm>
          <a:prstGeom prst="rect">
            <a:avLst/>
          </a:prstGeom>
          <a:noFill/>
        </p:spPr>
        <p:txBody>
          <a:bodyPr wrap="square">
            <a:spAutoFit/>
          </a:bodyPr>
          <a:lstStyle/>
          <a:p>
            <a:pPr algn="l"/>
            <a:r>
              <a:rPr sz="1100" b="1" i="0">
                <a:solidFill>
                  <a:srgbClr val="232C3A"/>
                </a:solidFill>
                <a:latin typeface="Nunito Sans"/>
              </a:rPr>
              <a:t>WATCH</a:t>
            </a:r>
          </a:p>
        </p:txBody>
      </p:sp>
      <p:sp>
        <p:nvSpPr>
          <p:cNvPr id="29" name="Rectangle 28"/>
          <p:cNvSpPr/>
          <p:nvPr/>
        </p:nvSpPr>
        <p:spPr>
          <a:xfrm>
            <a:off x="6510528" y="2990088"/>
            <a:ext cx="411480" cy="73152"/>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10528" y="3218688"/>
            <a:ext cx="54864" cy="41148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56832" y="3172968"/>
            <a:ext cx="4992624" cy="365760"/>
          </a:xfrm>
          <a:prstGeom prst="rect">
            <a:avLst/>
          </a:prstGeom>
          <a:noFill/>
        </p:spPr>
        <p:txBody>
          <a:bodyPr wrap="square">
            <a:spAutoFit/>
          </a:bodyPr>
          <a:lstStyle/>
          <a:p>
            <a:pPr algn="l"/>
            <a:r>
              <a:rPr sz="1200" b="0" i="1">
                <a:solidFill>
                  <a:srgbClr val="232C3A"/>
                </a:solidFill>
                <a:latin typeface="Nunito Sans"/>
              </a:rPr>
              <a:t>Ian McKellen: The power of storytelling</a:t>
            </a:r>
          </a:p>
        </p:txBody>
      </p:sp>
      <p:sp>
        <p:nvSpPr>
          <p:cNvPr id="32" name="Rectangle 31"/>
          <p:cNvSpPr/>
          <p:nvPr/>
        </p:nvSpPr>
        <p:spPr>
          <a:xfrm>
            <a:off x="6510528" y="3813048"/>
            <a:ext cx="54864" cy="41148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56832" y="3767328"/>
            <a:ext cx="4992624" cy="365760"/>
          </a:xfrm>
          <a:prstGeom prst="rect">
            <a:avLst/>
          </a:prstGeom>
          <a:noFill/>
        </p:spPr>
        <p:txBody>
          <a:bodyPr wrap="square">
            <a:spAutoFit/>
          </a:bodyPr>
          <a:lstStyle/>
          <a:p>
            <a:pPr algn="l"/>
            <a:r>
              <a:rPr sz="1200" b="0" i="1">
                <a:solidFill>
                  <a:srgbClr val="232C3A"/>
                </a:solidFill>
                <a:latin typeface="Nunito Sans"/>
              </a:rPr>
              <a:t>Neil Bearden: The Bicycle Guy</a:t>
            </a:r>
          </a:p>
        </p:txBody>
      </p:sp>
      <p:sp>
        <p:nvSpPr>
          <p:cNvPr id="34" name="Rectangle 33"/>
          <p:cNvSpPr/>
          <p:nvPr/>
        </p:nvSpPr>
        <p:spPr>
          <a:xfrm>
            <a:off x="6510528" y="4407408"/>
            <a:ext cx="54864" cy="41148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56832" y="4361688"/>
            <a:ext cx="4992624" cy="365760"/>
          </a:xfrm>
          <a:prstGeom prst="rect">
            <a:avLst/>
          </a:prstGeom>
          <a:noFill/>
        </p:spPr>
        <p:txBody>
          <a:bodyPr wrap="square">
            <a:spAutoFit/>
          </a:bodyPr>
          <a:lstStyle/>
          <a:p>
            <a:pPr algn="l"/>
            <a:r>
              <a:rPr sz="1200" b="0" i="1">
                <a:solidFill>
                  <a:srgbClr val="232C3A"/>
                </a:solidFill>
                <a:latin typeface="Nunito Sans"/>
              </a:rPr>
              <a:t>Barack Obama: ‘Fire it up! Ready to go?’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28600"/>
            <a:ext cx="11457432" cy="804672"/>
          </a:xfrm>
          <a:prstGeom prst="rect">
            <a:avLst/>
          </a:prstGeom>
          <a:noFill/>
        </p:spPr>
        <p:txBody>
          <a:bodyPr wrap="square">
            <a:spAutoFit/>
          </a:bodyPr>
          <a:lstStyle/>
          <a:p>
            <a:pPr algn="l"/>
            <a:r>
              <a:rPr sz="4400" b="1" i="0">
                <a:solidFill>
                  <a:srgbClr val="232C3A"/>
                </a:solidFill>
                <a:latin typeface="Nunito Sans"/>
              </a:rPr>
              <a:t>About the facilitators</a:t>
            </a:r>
          </a:p>
        </p:txBody>
      </p:sp>
      <p:sp>
        <p:nvSpPr>
          <p:cNvPr id="3" name="Rectangle 2"/>
          <p:cNvSpPr/>
          <p:nvPr/>
        </p:nvSpPr>
        <p:spPr>
          <a:xfrm>
            <a:off x="0" y="1042415"/>
            <a:ext cx="12188952" cy="36576"/>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6601968"/>
            <a:ext cx="11868912" cy="228600"/>
          </a:xfrm>
          <a:prstGeom prst="rect">
            <a:avLst/>
          </a:prstGeom>
          <a:noFill/>
        </p:spPr>
        <p:txBody>
          <a:bodyPr wrap="square">
            <a:spAutoFit/>
          </a:bodyPr>
          <a:lstStyle/>
          <a:p>
            <a:pPr algn="r"/>
            <a:r>
              <a:rPr sz="1100" b="0" i="1">
                <a:solidFill>
                  <a:srgbClr val="AAAAAA"/>
                </a:solidFill>
                <a:latin typeface="Nunito Sans"/>
              </a:rPr>
              <a:t>Storytelling Workbook</a:t>
            </a:r>
          </a:p>
        </p:txBody>
      </p:sp>
      <p:sp>
        <p:nvSpPr>
          <p:cNvPr id="5" name="Rectangle 4"/>
          <p:cNvSpPr/>
          <p:nvPr/>
        </p:nvSpPr>
        <p:spPr>
          <a:xfrm>
            <a:off x="320040" y="1170432"/>
            <a:ext cx="5632704" cy="324612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21992" y="2560320"/>
            <a:ext cx="1828800" cy="365760"/>
          </a:xfrm>
          <a:prstGeom prst="rect">
            <a:avLst/>
          </a:prstGeom>
          <a:noFill/>
        </p:spPr>
        <p:txBody>
          <a:bodyPr wrap="square">
            <a:spAutoFit/>
          </a:bodyPr>
          <a:lstStyle/>
          <a:p>
            <a:pPr algn="ctr"/>
            <a:r>
              <a:rPr sz="1200" b="0" i="0">
                <a:solidFill>
                  <a:srgbClr val="AAAAAA"/>
                </a:solidFill>
                <a:latin typeface="Nunito Sans"/>
              </a:rPr>
              <a:t>[Photo]</a:t>
            </a:r>
          </a:p>
        </p:txBody>
      </p:sp>
      <p:sp>
        <p:nvSpPr>
          <p:cNvPr id="7" name="TextBox 6"/>
          <p:cNvSpPr txBox="1"/>
          <p:nvPr/>
        </p:nvSpPr>
        <p:spPr>
          <a:xfrm>
            <a:off x="320040" y="4498848"/>
            <a:ext cx="5632704" cy="365760"/>
          </a:xfrm>
          <a:prstGeom prst="rect">
            <a:avLst/>
          </a:prstGeom>
          <a:noFill/>
        </p:spPr>
        <p:txBody>
          <a:bodyPr wrap="square">
            <a:spAutoFit/>
          </a:bodyPr>
          <a:lstStyle/>
          <a:p>
            <a:pPr algn="l"/>
            <a:r>
              <a:rPr sz="2000" b="1" i="0">
                <a:solidFill>
                  <a:srgbClr val="232C3A"/>
                </a:solidFill>
                <a:latin typeface="Nunito Sans"/>
              </a:rPr>
              <a:t>Sara Curleigh-Parsons</a:t>
            </a:r>
          </a:p>
        </p:txBody>
      </p:sp>
      <p:sp>
        <p:nvSpPr>
          <p:cNvPr id="8" name="TextBox 7"/>
          <p:cNvSpPr txBox="1"/>
          <p:nvPr/>
        </p:nvSpPr>
        <p:spPr>
          <a:xfrm>
            <a:off x="320040" y="4882896"/>
            <a:ext cx="5632704" cy="256032"/>
          </a:xfrm>
          <a:prstGeom prst="rect">
            <a:avLst/>
          </a:prstGeom>
          <a:noFill/>
        </p:spPr>
        <p:txBody>
          <a:bodyPr wrap="square">
            <a:spAutoFit/>
          </a:bodyPr>
          <a:lstStyle/>
          <a:p>
            <a:pPr algn="l"/>
            <a:r>
              <a:rPr sz="900" b="1" i="0">
                <a:solidFill>
                  <a:srgbClr val="B52C75"/>
                </a:solidFill>
                <a:latin typeface="Nunito Sans"/>
              </a:rPr>
              <a:t>FACILITATOR · EXECUTIVE COACH · CONSULTANT · STORYTELLER</a:t>
            </a:r>
          </a:p>
        </p:txBody>
      </p:sp>
      <p:sp>
        <p:nvSpPr>
          <p:cNvPr id="9" name="TextBox 8"/>
          <p:cNvSpPr txBox="1"/>
          <p:nvPr/>
        </p:nvSpPr>
        <p:spPr>
          <a:xfrm>
            <a:off x="320040" y="5148072"/>
            <a:ext cx="5632704" cy="228600"/>
          </a:xfrm>
          <a:prstGeom prst="rect">
            <a:avLst/>
          </a:prstGeom>
          <a:noFill/>
        </p:spPr>
        <p:txBody>
          <a:bodyPr wrap="square">
            <a:spAutoFit/>
          </a:bodyPr>
          <a:lstStyle/>
          <a:p>
            <a:pPr algn="l"/>
            <a:r>
              <a:rPr sz="1000" b="0" i="1">
                <a:solidFill>
                  <a:srgbClr val="AAAAAA"/>
                </a:solidFill>
                <a:latin typeface="Nunito Sans"/>
              </a:rPr>
              <a:t>EMCC Accredited Coach · 25+ years experience</a:t>
            </a:r>
          </a:p>
        </p:txBody>
      </p:sp>
      <p:sp>
        <p:nvSpPr>
          <p:cNvPr id="10" name="Rectangle 9"/>
          <p:cNvSpPr/>
          <p:nvPr/>
        </p:nvSpPr>
        <p:spPr>
          <a:xfrm>
            <a:off x="320040" y="5422392"/>
            <a:ext cx="41148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5559552"/>
            <a:ext cx="5632704" cy="777240"/>
          </a:xfrm>
          <a:prstGeom prst="rect">
            <a:avLst/>
          </a:prstGeom>
          <a:noFill/>
        </p:spPr>
        <p:txBody>
          <a:bodyPr wrap="square">
            <a:spAutoFit/>
          </a:bodyPr>
          <a:lstStyle/>
          <a:p>
            <a:pPr algn="l"/>
            <a:r>
              <a:rPr sz="1000" b="0" i="0">
                <a:solidFill>
                  <a:srgbClr val="3A4A55"/>
                </a:solidFill>
                <a:latin typeface="Nunito Sans"/>
              </a:rPr>
              <a:t>Sara is a leadership facilitator, executive coach and storyteller with over 25 years of experience helping leaders find their voice, shape their narrative and bring people with them.
She works with organisations including The Storytellers (now part of Accenture), London Business School and HEC Paris. She is co-author of Uncover Your Light: Stories of Hope and Resilience.</a:t>
            </a:r>
          </a:p>
        </p:txBody>
      </p:sp>
      <p:sp>
        <p:nvSpPr>
          <p:cNvPr id="12" name="TextBox 11"/>
          <p:cNvSpPr txBox="1"/>
          <p:nvPr/>
        </p:nvSpPr>
        <p:spPr>
          <a:xfrm>
            <a:off x="320040" y="6473952"/>
            <a:ext cx="5632704" cy="228600"/>
          </a:xfrm>
          <a:prstGeom prst="rect">
            <a:avLst/>
          </a:prstGeom>
          <a:noFill/>
        </p:spPr>
        <p:txBody>
          <a:bodyPr wrap="square">
            <a:spAutoFit/>
          </a:bodyPr>
          <a:lstStyle/>
          <a:p>
            <a:pPr algn="l"/>
            <a:r>
              <a:rPr sz="1000" b="0" i="0">
                <a:solidFill>
                  <a:srgbClr val="AAAAAA"/>
                </a:solidFill>
                <a:latin typeface="Nunito Sans"/>
              </a:rPr>
              <a:t>sara.parsons@rusholme.org  ·  +44 7903 682140</a:t>
            </a:r>
          </a:p>
        </p:txBody>
      </p:sp>
      <p:sp>
        <p:nvSpPr>
          <p:cNvPr id="13" name="Rectangle 12"/>
          <p:cNvSpPr/>
          <p:nvPr/>
        </p:nvSpPr>
        <p:spPr>
          <a:xfrm>
            <a:off x="6236208" y="1170432"/>
            <a:ext cx="5632704" cy="324612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2560320"/>
            <a:ext cx="1828800" cy="365760"/>
          </a:xfrm>
          <a:prstGeom prst="rect">
            <a:avLst/>
          </a:prstGeom>
          <a:noFill/>
        </p:spPr>
        <p:txBody>
          <a:bodyPr wrap="square">
            <a:spAutoFit/>
          </a:bodyPr>
          <a:lstStyle/>
          <a:p>
            <a:pPr algn="ctr"/>
            <a:r>
              <a:rPr sz="1200" b="0" i="0">
                <a:solidFill>
                  <a:srgbClr val="AAAAAA"/>
                </a:solidFill>
                <a:latin typeface="Nunito Sans"/>
              </a:rPr>
              <a:t>[Photo]</a:t>
            </a:r>
          </a:p>
        </p:txBody>
      </p:sp>
      <p:sp>
        <p:nvSpPr>
          <p:cNvPr id="15" name="TextBox 14"/>
          <p:cNvSpPr txBox="1"/>
          <p:nvPr/>
        </p:nvSpPr>
        <p:spPr>
          <a:xfrm>
            <a:off x="6236208" y="4498848"/>
            <a:ext cx="5632704" cy="365760"/>
          </a:xfrm>
          <a:prstGeom prst="rect">
            <a:avLst/>
          </a:prstGeom>
          <a:noFill/>
        </p:spPr>
        <p:txBody>
          <a:bodyPr wrap="square">
            <a:spAutoFit/>
          </a:bodyPr>
          <a:lstStyle/>
          <a:p>
            <a:pPr algn="l"/>
            <a:r>
              <a:rPr sz="2000" b="1" i="0">
                <a:solidFill>
                  <a:srgbClr val="232C3A"/>
                </a:solidFill>
                <a:latin typeface="Nunito Sans"/>
              </a:rPr>
              <a:t>Juliet Fallowfield</a:t>
            </a:r>
          </a:p>
        </p:txBody>
      </p:sp>
      <p:sp>
        <p:nvSpPr>
          <p:cNvPr id="16" name="TextBox 15"/>
          <p:cNvSpPr txBox="1"/>
          <p:nvPr/>
        </p:nvSpPr>
        <p:spPr>
          <a:xfrm>
            <a:off x="6236208" y="4882896"/>
            <a:ext cx="5632704" cy="256032"/>
          </a:xfrm>
          <a:prstGeom prst="rect">
            <a:avLst/>
          </a:prstGeom>
          <a:noFill/>
        </p:spPr>
        <p:txBody>
          <a:bodyPr wrap="square">
            <a:spAutoFit/>
          </a:bodyPr>
          <a:lstStyle/>
          <a:p>
            <a:pPr algn="l"/>
            <a:r>
              <a:rPr sz="900" b="1" i="0">
                <a:solidFill>
                  <a:srgbClr val="B52C75"/>
                </a:solidFill>
                <a:latin typeface="Nunito Sans"/>
              </a:rPr>
              <a:t>EXECUTIVE COACH · FACILITATOR · STRATEGIC WRITER · STORYTELLER</a:t>
            </a:r>
          </a:p>
        </p:txBody>
      </p:sp>
      <p:sp>
        <p:nvSpPr>
          <p:cNvPr id="17" name="TextBox 16"/>
          <p:cNvSpPr txBox="1"/>
          <p:nvPr/>
        </p:nvSpPr>
        <p:spPr>
          <a:xfrm>
            <a:off x="6236208" y="5148072"/>
            <a:ext cx="5632704" cy="228600"/>
          </a:xfrm>
          <a:prstGeom prst="rect">
            <a:avLst/>
          </a:prstGeom>
          <a:noFill/>
        </p:spPr>
        <p:txBody>
          <a:bodyPr wrap="square">
            <a:spAutoFit/>
          </a:bodyPr>
          <a:lstStyle/>
          <a:p>
            <a:pPr algn="l"/>
            <a:r>
              <a:rPr sz="1000" b="0" i="1">
                <a:solidFill>
                  <a:srgbClr val="AAAAAA"/>
                </a:solidFill>
                <a:latin typeface="Nunito Sans"/>
              </a:rPr>
              <a:t>ICF Accredited Coach · 30+ years experience</a:t>
            </a:r>
          </a:p>
        </p:txBody>
      </p:sp>
      <p:sp>
        <p:nvSpPr>
          <p:cNvPr id="18" name="Rectangle 17"/>
          <p:cNvSpPr/>
          <p:nvPr/>
        </p:nvSpPr>
        <p:spPr>
          <a:xfrm>
            <a:off x="6236208" y="5422392"/>
            <a:ext cx="411480" cy="64008"/>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6208" y="5559552"/>
            <a:ext cx="5632704" cy="777240"/>
          </a:xfrm>
          <a:prstGeom prst="rect">
            <a:avLst/>
          </a:prstGeom>
          <a:noFill/>
        </p:spPr>
        <p:txBody>
          <a:bodyPr wrap="square">
            <a:spAutoFit/>
          </a:bodyPr>
          <a:lstStyle/>
          <a:p>
            <a:pPr algn="l"/>
            <a:r>
              <a:rPr sz="1000" b="0" i="0">
                <a:solidFill>
                  <a:srgbClr val="3A4A55"/>
                </a:solidFill>
                <a:latin typeface="Nunito Sans"/>
              </a:rPr>
              <a:t>Juliet is a leadership and systems coach, facilitator and strategic writer with over 30 years of international experience.
Her approach draws on systems thinking, narrative therapy and ontological coaching, developed through work across Canada, North and South-east Asia, France, Germany and the UK.</a:t>
            </a:r>
          </a:p>
        </p:txBody>
      </p:sp>
      <p:sp>
        <p:nvSpPr>
          <p:cNvPr id="20" name="TextBox 19"/>
          <p:cNvSpPr txBox="1"/>
          <p:nvPr/>
        </p:nvSpPr>
        <p:spPr>
          <a:xfrm>
            <a:off x="6236208" y="6473952"/>
            <a:ext cx="5632704" cy="228600"/>
          </a:xfrm>
          <a:prstGeom prst="rect">
            <a:avLst/>
          </a:prstGeom>
          <a:noFill/>
        </p:spPr>
        <p:txBody>
          <a:bodyPr wrap="square">
            <a:spAutoFit/>
          </a:bodyPr>
          <a:lstStyle/>
          <a:p>
            <a:pPr algn="l"/>
            <a:r>
              <a:rPr sz="1000" b="0" i="0">
                <a:solidFill>
                  <a:srgbClr val="AAAAAA"/>
                </a:solidFill>
                <a:latin typeface="Nunito Sans"/>
              </a:rPr>
              <a:t>juliet@nowtonext.co.uk  ·  +44 7432 652 940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636008" cy="5989320"/>
          </a:xfrm>
          <a:prstGeom prst="rect">
            <a:avLst/>
          </a:prstGeom>
          <a:solidFill>
            <a:srgbClr val="94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636008" y="0"/>
            <a:ext cx="16459" cy="5989320"/>
          </a:xfrm>
          <a:prstGeom prst="rect">
            <a:avLst/>
          </a:prstGeom>
          <a:solidFill>
            <a:srgbClr val="6A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989320"/>
            <a:ext cx="12188952" cy="868680"/>
          </a:xfrm>
          <a:prstGeom prst="rect">
            <a:avLst/>
          </a:prstGeom>
          <a:solidFill>
            <a:srgbClr val="23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0" y="1828800"/>
            <a:ext cx="6858000" cy="640080"/>
          </a:xfrm>
          <a:prstGeom prst="rect">
            <a:avLst/>
          </a:prstGeom>
          <a:noFill/>
        </p:spPr>
        <p:txBody>
          <a:bodyPr wrap="square">
            <a:spAutoFit/>
          </a:bodyPr>
          <a:lstStyle/>
          <a:p>
            <a:pPr algn="l"/>
            <a:r>
              <a:rPr sz="4000" b="1" i="0">
                <a:solidFill>
                  <a:srgbClr val="232C3A"/>
                </a:solidFill>
                <a:latin typeface="Nunito Sans"/>
              </a:rPr>
              <a:t>Acknowledgements</a:t>
            </a:r>
          </a:p>
        </p:txBody>
      </p:sp>
      <p:sp>
        <p:nvSpPr>
          <p:cNvPr id="6" name="Rectangle 5"/>
          <p:cNvSpPr/>
          <p:nvPr/>
        </p:nvSpPr>
        <p:spPr>
          <a:xfrm>
            <a:off x="5029200" y="2542032"/>
            <a:ext cx="502920" cy="91440"/>
          </a:xfrm>
          <a:prstGeom prst="rect">
            <a:avLst/>
          </a:prstGeom>
          <a:solidFill>
            <a:srgbClr val="B52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0" y="2788920"/>
            <a:ext cx="6858000" cy="2743200"/>
          </a:xfrm>
          <a:prstGeom prst="rect">
            <a:avLst/>
          </a:prstGeom>
          <a:noFill/>
        </p:spPr>
        <p:txBody>
          <a:bodyPr wrap="square">
            <a:spAutoFit/>
          </a:bodyPr>
          <a:lstStyle/>
          <a:p>
            <a:pPr algn="l">
              <a:spcAft>
                <a:spcPts val="1400"/>
              </a:spcAft>
            </a:pPr>
            <a:r>
              <a:rPr sz="1400" b="0" i="0">
                <a:solidFill>
                  <a:srgbClr val="3A4A55"/>
                </a:solidFill>
                <a:latin typeface="Nunito Sans"/>
              </a:rPr>
              <a:t>Storytelling Workbook was developed by Sara Parsons and Juliet Fallowfield of Now to Next, drawing on decades of experience working with leaders across a wide range of organisations and industries.</a:t>
            </a:r>
          </a:p>
          <a:p>
            <a:pPr algn="l"/>
            <a:r>
              <a:rPr sz="1400" b="0" i="0">
                <a:solidFill>
                  <a:srgbClr val="3A4A55"/>
                </a:solidFill>
                <a:latin typeface="Nunito Sans"/>
              </a:rPr>
              <a:t>We are grateful to all the leaders, teams and organisations who have contributed their stories, their insights and their trust to the development of this programme. Your experiences are the heart of this work.</a:t>
            </a:r>
          </a:p>
        </p:txBody>
      </p:sp>
      <p:sp>
        <p:nvSpPr>
          <p:cNvPr id="8" name="TextBox 7"/>
          <p:cNvSpPr txBox="1"/>
          <p:nvPr/>
        </p:nvSpPr>
        <p:spPr>
          <a:xfrm>
            <a:off x="0" y="6601968"/>
            <a:ext cx="11868912" cy="228600"/>
          </a:xfrm>
          <a:prstGeom prst="rect">
            <a:avLst/>
          </a:prstGeom>
          <a:noFill/>
        </p:spPr>
        <p:txBody>
          <a:bodyPr wrap="square">
            <a:spAutoFit/>
          </a:bodyPr>
          <a:lstStyle/>
          <a:p>
            <a:pPr algn="r"/>
            <a:r>
              <a:rPr sz="1100" b="0" i="1">
                <a:solidFill>
                  <a:srgbClr val="8899AA"/>
                </a:solidFill>
                <a:latin typeface="Nunito Sans"/>
              </a:rPr>
              <a:t>Storytelling Workbook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